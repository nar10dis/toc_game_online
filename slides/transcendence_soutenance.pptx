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0b6d18d-39fa-e647-f96a-718d43d6897d}">
          <p14:sldIdLst>
            <p14:sldId id="256"/>
            <p14:sldId id="257"/>
          </p14:sldIdLst>
        </p14:section>
        <p14:section name="La big picture" id="{d3051d49-b0a1-1f87-b468-5b9dc5491425}">
          <p14:sldIdLst>
            <p14:sldId id="258"/>
            <p14:sldId id="259"/>
            <p14:sldId id="260"/>
            <p14:sldId id="261"/>
            <p14:sldId id="262"/>
          </p14:sldIdLst>
        </p14:section>
        <p14:section name="Backend NestJS" id="{6d668f3d-27a1-ccb1-4b9f-26b11b9419ea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Le moteur de jeu" id="{e158fdda-5d98-3a00-60a5-31e2637849fb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Temps réel" id="{4f3726e5-de93-4b07-a863-21c5d524449f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Frontend Next.js" id="{847ec072-f178-2670-ba38-22eb5121d4a4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Grille &amp; modules" id="{addc4a11-5ab6-693b-eb1a-c52c9c4f8057}">
          <p14:sldIdLst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5313E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25313E"/>
                </a:solidFill>
                <a:latin typeface="+mj-lt"/>
              </a:rPr>
              <a:t>Commits par auteur Git (72 au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407F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31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nadeluge</c:v>
                  </c:pt>
                  <c:pt idx="1">
                    <c:v>elaudrez</c:v>
                  </c:pt>
                  <c:pt idx="2">
                    <c:v>Gwena</c:v>
                  </c:pt>
                  <c:pt idx="3">
                    <c:v>Jules Azéma*</c:v>
                  </c:pt>
                  <c:pt idx="4">
                    <c:v>nar10</c:v>
                  </c:pt>
                  <c:pt idx="5">
                    <c:v>copilot (bot)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17</c:v>
                </c:pt>
                <c:pt idx="2">
                  <c:v>9</c:v>
                </c:pt>
                <c:pt idx="3">
                  <c:v>9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531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l'équipe, puis la big picture, puis chaque couche du code, puis la grille d'évaluation et les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nginx regarde le début de l'URL : /api/ et /ws/ vont au backend (avec l'upgrade WebSocket pour /ws/), tout le reste au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bcrypt génère un sel aléatoire par mot de passe (genSalt(10) = 2^10 tours). Le sel est stocké dans le hash lui-même : compare() le relit. Même message d'erreur que l'email ou le mot de passe soit faux.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clic n'attend pas le nouvel état dans la réponse : l'ack dit juste ok/erreur. L'état arrive à TOUT le monde (y compris l'auteur du coup) via le message 'state'. Le front n'a donc qu'une seule façon de se mettre à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ft_transcendence · Tock en ligne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Transcendence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Un Tock à 4 joueurs en ligne — architecture, code et modules</a:t>
            </a:r>
            <a:endParaRPr lang="en-US" sz="2200" dirty="0"/>
          </a:p>
        </p:txBody>
      </p:sp>
      <p:sp>
        <p:nvSpPr>
          <p:cNvPr id="4" name="Pawn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Pawn"/>
          <p:cNvSpPr/>
          <p:nvPr/>
        </p:nvSpPr>
        <p:spPr>
          <a:xfrm>
            <a:off x="1417320" y="1325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awn"/>
          <p:cNvSpPr/>
          <p:nvPr/>
        </p:nvSpPr>
        <p:spPr>
          <a:xfrm>
            <a:off x="2103120" y="13258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awn"/>
          <p:cNvSpPr/>
          <p:nvPr/>
        </p:nvSpPr>
        <p:spPr>
          <a:xfrm>
            <a:off x="2788920" y="13258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4"/>
                </a:solidFill>
              </a:rPr>
              <a:t>Support de soutenance · ft_transcendence (sujet v21.1)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qu'on va voir</a:t>
            </a:r>
            <a:endParaRPr lang="en-US" sz="3000" dirty="0"/>
          </a:p>
        </p:txBody>
      </p:sp>
      <p:sp>
        <p:nvSpPr>
          <p:cNvPr id="3" name="Pawn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big picture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385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A"/>
                </a:solidFill>
              </a:rPr>
              <a:t>Le jeu, la stack, l'architecture Docker / nginx</a:t>
            </a:r>
            <a:endParaRPr lang="en-US" sz="1500" dirty="0"/>
          </a:p>
        </p:txBody>
      </p:sp>
      <p:sp>
        <p:nvSpPr>
          <p:cNvPr id="7" name="Pawn"/>
          <p:cNvSpPr/>
          <p:nvPr/>
        </p:nvSpPr>
        <p:spPr>
          <a:xfrm>
            <a:off x="6309360" y="15544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NestJS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9385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A"/>
                </a:solidFill>
              </a:rPr>
              <a:t>Auth, profil, amis, base de données</a:t>
            </a:r>
            <a:endParaRPr lang="en-US" sz="1500" dirty="0"/>
          </a:p>
        </p:txBody>
      </p:sp>
      <p:sp>
        <p:nvSpPr>
          <p:cNvPr id="11" name="Pawn"/>
          <p:cNvSpPr/>
          <p:nvPr/>
        </p:nvSpPr>
        <p:spPr>
          <a:xfrm>
            <a:off x="731520" y="31089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035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de jeu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4930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A"/>
                </a:solidFill>
              </a:rPr>
              <a:t>Plateau, cartes, règles, IA — du code pur</a:t>
            </a:r>
            <a:endParaRPr lang="en-US" sz="1500" dirty="0"/>
          </a:p>
        </p:txBody>
      </p:sp>
      <p:sp>
        <p:nvSpPr>
          <p:cNvPr id="15" name="Pawn"/>
          <p:cNvSpPr/>
          <p:nvPr/>
        </p:nvSpPr>
        <p:spPr>
          <a:xfrm>
            <a:off x="6309360" y="31089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3035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réel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4930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A"/>
                </a:solidFill>
              </a:rPr>
              <a:t>WebSockets, diffusion de l'état, déconnexions</a:t>
            </a:r>
            <a:endParaRPr lang="en-US" sz="1500" dirty="0"/>
          </a:p>
        </p:txBody>
      </p:sp>
      <p:sp>
        <p:nvSpPr>
          <p:cNvPr id="19" name="Pawn"/>
          <p:cNvSpPr/>
          <p:nvPr/>
        </p:nvSpPr>
        <p:spPr>
          <a:xfrm>
            <a:off x="731520" y="4663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590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Next.js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0474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A"/>
                </a:solidFill>
              </a:rPr>
              <a:t>Pages, hooks, plateau, design system</a:t>
            </a:r>
            <a:endParaRPr lang="en-US" sz="1500" dirty="0"/>
          </a:p>
        </p:txBody>
      </p:sp>
      <p:sp>
        <p:nvSpPr>
          <p:cNvPr id="23" name="Pawn"/>
          <p:cNvSpPr/>
          <p:nvPr/>
        </p:nvSpPr>
        <p:spPr>
          <a:xfrm>
            <a:off x="6309360" y="46634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590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Grille &amp; modules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0474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A"/>
                </a:solidFill>
              </a:rPr>
              <a:t>Exigences, points, ce qu'il reste à corriger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wn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 big picture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Ce que fait l'application et comment les morceaux s'emboîtent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 Tock à 4 joueurs, jouable dans le navigateur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 joueurs, 4 pions chacun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sur un plateau de 72 cases ; 52 cartes, 5 par manche.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Les sièges vides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sont pris par des IA : on peut jouer seul ou entre amis.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Temps réel 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chaque coup est poussé à tous les joueurs par WebSocket.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Victoire 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le premier qui rentre ses 4 pions dans sa maison.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Autour du jeu 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comptes, profil + avatar, amis avec statut en ligne.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17320"/>
          <a:ext cx="5897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5740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Couche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Next.js 16, React 19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Routing par fichier, écosystème React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Style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Tailwind 4 + shadcn/ui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Tokens de couleur, composants accessibles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NestJS 11 + socket.io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Modules + injection, gateways WebSocket intégrées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ORM / BDD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Prisma 7 + PostgreSQL 18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Schéma typé, migrations, contraintes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Proxy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nginx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TLS + un seul point d'entrée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Déploiement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Docker Compose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Tout démarre en une commande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navigateur ne parle qu'à nginx, qui aiguille selon l'URL</a:t>
            </a:r>
            <a:endParaRPr lang="en-US" sz="3000" dirty="0"/>
          </a:p>
        </p:txBody>
      </p:sp>
      <p:sp>
        <p:nvSpPr>
          <p:cNvPr id="3" name="Box Navigateur"/>
          <p:cNvSpPr/>
          <p:nvPr/>
        </p:nvSpPr>
        <p:spPr>
          <a:xfrm>
            <a:off x="4480560" y="128016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8056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Navigateur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80760" y="1828800"/>
            <a:ext cx="0" cy="41148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6217920" y="18973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https://localhost:8443</a:t>
            </a:r>
            <a:endParaRPr lang="en-US" sz="1100" dirty="0"/>
          </a:p>
        </p:txBody>
      </p:sp>
      <p:sp>
        <p:nvSpPr>
          <p:cNvPr id="7" name="Box nginx"/>
          <p:cNvSpPr/>
          <p:nvPr/>
        </p:nvSpPr>
        <p:spPr>
          <a:xfrm>
            <a:off x="4023360" y="224028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2240280"/>
            <a:ext cx="41148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nginx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TLS 1.2 / 1.3, certificat auto-signé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H="1">
            <a:off x="2377440" y="2926080"/>
            <a:ext cx="2377440" cy="91440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8346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926080"/>
            <a:ext cx="1097280" cy="91440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6809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  et  /ws/</a:t>
            </a:r>
            <a:endParaRPr lang="en-US" sz="1300" dirty="0"/>
          </a:p>
        </p:txBody>
      </p:sp>
      <p:sp>
        <p:nvSpPr>
          <p:cNvPr id="13" name="Box frontend"/>
          <p:cNvSpPr/>
          <p:nvPr/>
        </p:nvSpPr>
        <p:spPr>
          <a:xfrm>
            <a:off x="822960" y="3840480"/>
            <a:ext cx="3291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32918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· :3000</a:t>
            </a:r>
            <a:endParaRPr lang="en-US" sz="1600" dirty="0"/>
          </a:p>
        </p:txBody>
      </p:sp>
      <p:sp>
        <p:nvSpPr>
          <p:cNvPr id="15" name="Box backend"/>
          <p:cNvSpPr/>
          <p:nvPr/>
        </p:nvSpPr>
        <p:spPr>
          <a:xfrm>
            <a:off x="6583680" y="384048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840480"/>
            <a:ext cx="42062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NestJS · :3001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 · Profile · Friends · Game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└ engine/ : règles pures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0" y="5440680"/>
            <a:ext cx="0" cy="36576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823960" y="5486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Prisma</a:t>
            </a:r>
            <a:endParaRPr lang="en-US" sz="1100" dirty="0"/>
          </a:p>
        </p:txBody>
      </p:sp>
      <p:sp>
        <p:nvSpPr>
          <p:cNvPr id="19" name="Box PostgreSQL"/>
          <p:cNvSpPr/>
          <p:nvPr/>
        </p:nvSpPr>
        <p:spPr>
          <a:xfrm>
            <a:off x="7589520" y="580644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5806440"/>
            <a:ext cx="21945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74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Front et back sont servis sur le même domaine : les cookies passent partout et il n'y a pas de CORS. Seul le backend touche la 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Une seule commande : docker compose up --build</a:t>
            </a:r>
            <a:endParaRPr lang="en-US" sz="3000" dirty="0"/>
          </a:p>
        </p:txBody>
      </p:sp>
      <p:sp>
        <p:nvSpPr>
          <p:cNvPr id="3" name="Pawn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371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830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 officielle, volume db_data, healthcheck pg_isready</a:t>
            </a:r>
            <a:endParaRPr lang="en-US" sz="1400" dirty="0"/>
          </a:p>
        </p:txBody>
      </p:sp>
      <p:sp>
        <p:nvSpPr>
          <p:cNvPr id="6" name="Pawn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560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71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Attend postgres « healthy », puis migrate deploy → generate → start</a:t>
            </a:r>
            <a:endParaRPr lang="en-US" sz="1400" dirty="0"/>
          </a:p>
        </p:txBody>
      </p:sp>
      <p:sp>
        <p:nvSpPr>
          <p:cNvPr id="9" name="Pawn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749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1605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 dev, code monté en volume (rechargement à chaud)</a:t>
            </a:r>
            <a:endParaRPr lang="en-US" sz="1400" dirty="0"/>
          </a:p>
        </p:txBody>
      </p:sp>
      <p:sp>
        <p:nvSpPr>
          <p:cNvPr id="12" name="Pawn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937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349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Génère le certificat avec openssl au build, écoute 443 → 8443</a:t>
            </a:r>
            <a:endParaRPr lang="en-US" sz="1400" dirty="0"/>
          </a:p>
        </p:txBody>
      </p:sp>
      <p:sp>
        <p:nvSpPr>
          <p:cNvPr id="15" name="Code panel"/>
          <p:cNvSpPr/>
          <p:nvPr/>
        </p:nvSpPr>
        <p:spPr>
          <a:xfrm>
            <a:off x="5760720" y="1325880"/>
            <a:ext cx="5897880" cy="3017520"/>
          </a:xfrm>
          <a:prstGeom prst="roundRect">
            <a:avLst>
              <a:gd name="adj" fmla="val 2424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9008" y="1344168"/>
            <a:ext cx="58613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344168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050" dirty="0"/>
          </a:p>
        </p:txBody>
      </p:sp>
      <p:sp>
        <p:nvSpPr>
          <p:cNvPr id="18" name="Code docker-compose.yml"/>
          <p:cNvSpPr txBox="1"/>
          <p:nvPr/>
        </p:nvSpPr>
        <p:spPr>
          <a:xfrm>
            <a:off x="5897880" y="1737360"/>
            <a:ext cx="5623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started container is not a ready database: migrate deploy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would fail on a fresh volume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service_healthy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$$ so the variables are read inside the container, not by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compose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"CMD-SHELL"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pg_isready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$${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-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$${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POSTGRES_DB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2s</a:t>
            </a:r>
            <a:endParaRPr lang="en-US" sz="1150" dirty="0"/>
          </a:p>
        </p:txBody>
      </p:sp>
      <p:sp>
        <p:nvSpPr>
          <p:cNvPr id="19" name="Code panel"/>
          <p:cNvSpPr/>
          <p:nvPr/>
        </p:nvSpPr>
        <p:spPr>
          <a:xfrm>
            <a:off x="5760720" y="4480560"/>
            <a:ext cx="5897880" cy="1005840"/>
          </a:xfrm>
          <a:prstGeom prst="roundRect">
            <a:avLst>
              <a:gd name="adj" fmla="val 7273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9008" y="4498848"/>
            <a:ext cx="58613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4498848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backend/Dockerfile</a:t>
            </a:r>
            <a:endParaRPr lang="en-US" sz="1050" dirty="0"/>
          </a:p>
        </p:txBody>
      </p:sp>
      <p:sp>
        <p:nvSpPr>
          <p:cNvPr id="22" name="Code backend/Dockerfile"/>
          <p:cNvSpPr txBox="1"/>
          <p:nvPr/>
        </p:nvSpPr>
        <p:spPr>
          <a:xfrm>
            <a:off x="5897880" y="489204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"-c"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62356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6B7A"/>
                </a:solidFill>
              </a:rPr>
              <a:t>Sans le healthcheck, le backend lancerait les migrations sur une base pas encore prête.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Quatre principes guident tout le code</a:t>
            </a:r>
            <a:endParaRPr lang="en-US" sz="3000" dirty="0"/>
          </a:p>
        </p:txBody>
      </p:sp>
      <p:sp>
        <p:nvSpPr>
          <p:cNvPr id="3" name="Card Le serveur fait autorité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wn"/>
          <p:cNvSpPr/>
          <p:nvPr/>
        </p:nvSpPr>
        <p:spPr>
          <a:xfrm>
            <a:off x="777240" y="16184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serveur fait autorité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 front envoie une intention (« cette carte, ce pion »). Le serveur la valide ou la refuse : aucune règle n'est appliquée côté client.</a:t>
            </a:r>
            <a:endParaRPr lang="en-US" sz="1500" dirty="0"/>
          </a:p>
        </p:txBody>
      </p:sp>
      <p:sp>
        <p:nvSpPr>
          <p:cNvPr id="8" name="Card Le moteur est pur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wn"/>
          <p:cNvSpPr/>
          <p:nvPr/>
        </p:nvSpPr>
        <p:spPr>
          <a:xfrm>
            <a:off x="6400800" y="16184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5448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est pur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engine/ ne contient que des fonctions (état, action) → nouvel état. Ni Nest, ni Prisma, ni mutation : facile à tester et à relire.</a:t>
            </a:r>
            <a:endParaRPr lang="en-US" sz="1500" dirty="0"/>
          </a:p>
        </p:txBody>
      </p:sp>
      <p:sp>
        <p:nvSpPr>
          <p:cNvPr id="13" name="Card La partie vit en mémoire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wn"/>
          <p:cNvSpPr/>
          <p:nvPr/>
        </p:nvSpPr>
        <p:spPr>
          <a:xfrm>
            <a:off x="777240" y="4041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7764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partie vit en mémoire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720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Une Map dans GameService. La base ne garde que ce qui dure : comptes, profils, parties, participants, amitiés.</a:t>
            </a:r>
            <a:endParaRPr lang="en-US" sz="1500" dirty="0"/>
          </a:p>
        </p:txBody>
      </p:sp>
      <p:sp>
        <p:nvSpPr>
          <p:cNvPr id="18" name="Card Un seul point d'entrée"/>
          <p:cNvSpPr/>
          <p:nvPr/>
        </p:nvSpPr>
        <p:spPr>
          <a:xfrm>
            <a:off x="6172200" y="379476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wn"/>
          <p:cNvSpPr/>
          <p:nvPr/>
        </p:nvSpPr>
        <p:spPr>
          <a:xfrm>
            <a:off x="6400800" y="404164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97764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point d'entrée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5720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Tout passe par nginx en HTTPS. Les cookies httpOnly suivent les requêtes HTTP et le handshake WebSocket.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wn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Backend NestJS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Un module par domaine, tout sous /api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NestJS : un module par domaine, branchés dans AppModule</a:t>
            </a:r>
            <a:endParaRPr lang="en-US" sz="3000" dirty="0"/>
          </a:p>
        </p:txBody>
      </p:sp>
      <p:sp>
        <p:nvSpPr>
          <p:cNvPr id="3" name="Box AppModule"/>
          <p:cNvSpPr/>
          <p:nvPr/>
        </p:nvSpPr>
        <p:spPr>
          <a:xfrm>
            <a:off x="4709160" y="128016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0916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AppModule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H="1">
            <a:off x="1572768" y="1828800"/>
            <a:ext cx="4507992" cy="685800"/>
          </a:xfrm>
          <a:prstGeom prst="line">
            <a:avLst/>
          </a:prstGeom>
          <a:noFill/>
          <a:ln w="12700">
            <a:solidFill>
              <a:srgbClr val="C9C0AC"/>
            </a:solidFill>
            <a:prstDash val="solid"/>
          </a:ln>
        </p:spPr>
      </p:sp>
      <p:sp>
        <p:nvSpPr>
          <p:cNvPr id="6" name="Box PrismaModule"/>
          <p:cNvSpPr/>
          <p:nvPr/>
        </p:nvSpPr>
        <p:spPr>
          <a:xfrm>
            <a:off x="548640" y="2514600"/>
            <a:ext cx="20574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PrismaModule</a:t>
            </a:r>
            <a:endParaRPr lang="en-US" sz="1400" dirty="0"/>
          </a:p>
        </p:txBody>
      </p:sp>
      <p:sp>
        <p:nvSpPr>
          <p:cNvPr id="8" name="Box PrismaService (global) connexi"/>
          <p:cNvSpPr/>
          <p:nvPr/>
        </p:nvSpPr>
        <p:spPr>
          <a:xfrm>
            <a:off x="548640" y="3108960"/>
            <a:ext cx="2057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205740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PrismaService (global)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connexion pg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3840480" y="1828800"/>
            <a:ext cx="2240280" cy="685800"/>
          </a:xfrm>
          <a:prstGeom prst="line">
            <a:avLst/>
          </a:prstGeom>
          <a:noFill/>
          <a:ln w="12700">
            <a:solidFill>
              <a:srgbClr val="C9C0AC"/>
            </a:solidFill>
            <a:prstDash val="solid"/>
          </a:ln>
        </p:spPr>
      </p:sp>
      <p:sp>
        <p:nvSpPr>
          <p:cNvPr id="11" name="Box AuthModule"/>
          <p:cNvSpPr/>
          <p:nvPr/>
        </p:nvSpPr>
        <p:spPr>
          <a:xfrm>
            <a:off x="2816352" y="2514600"/>
            <a:ext cx="20574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AuthModule</a:t>
            </a:r>
            <a:endParaRPr lang="en-US" sz="1400" dirty="0"/>
          </a:p>
        </p:txBody>
      </p:sp>
      <p:sp>
        <p:nvSpPr>
          <p:cNvPr id="13" name="Box AuthController AuthService Jwt"/>
          <p:cNvSpPr/>
          <p:nvPr/>
        </p:nvSpPr>
        <p:spPr>
          <a:xfrm>
            <a:off x="2816352" y="3108960"/>
            <a:ext cx="2057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3108960"/>
            <a:ext cx="205740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JwtModule (global)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7432" cy="685800"/>
          </a:xfrm>
          <a:prstGeom prst="line">
            <a:avLst/>
          </a:prstGeom>
          <a:noFill/>
          <a:ln w="12700">
            <a:solidFill>
              <a:srgbClr val="C9C0AC"/>
            </a:solidFill>
            <a:prstDash val="solid"/>
          </a:ln>
        </p:spPr>
      </p:sp>
      <p:sp>
        <p:nvSpPr>
          <p:cNvPr id="16" name="Box ProfileModule"/>
          <p:cNvSpPr/>
          <p:nvPr/>
        </p:nvSpPr>
        <p:spPr>
          <a:xfrm>
            <a:off x="5084064" y="2514600"/>
            <a:ext cx="20574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4064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ProfileModule</a:t>
            </a:r>
            <a:endParaRPr lang="en-US" sz="1400" dirty="0"/>
          </a:p>
        </p:txBody>
      </p:sp>
      <p:sp>
        <p:nvSpPr>
          <p:cNvPr id="18" name="Box ProfileController ProfileServi"/>
          <p:cNvSpPr/>
          <p:nvPr/>
        </p:nvSpPr>
        <p:spPr>
          <a:xfrm>
            <a:off x="5084064" y="3108960"/>
            <a:ext cx="2057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84064" y="3108960"/>
            <a:ext cx="205740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ProfileController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ProfileService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avatar-storage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295144" cy="685800"/>
          </a:xfrm>
          <a:prstGeom prst="line">
            <a:avLst/>
          </a:prstGeom>
          <a:noFill/>
          <a:ln w="12700">
            <a:solidFill>
              <a:srgbClr val="C9C0AC"/>
            </a:solidFill>
            <a:prstDash val="solid"/>
          </a:ln>
        </p:spPr>
      </p:sp>
      <p:sp>
        <p:nvSpPr>
          <p:cNvPr id="21" name="Box FriendsModule"/>
          <p:cNvSpPr/>
          <p:nvPr/>
        </p:nvSpPr>
        <p:spPr>
          <a:xfrm>
            <a:off x="7351776" y="2514600"/>
            <a:ext cx="20574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51776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FriendsModule</a:t>
            </a:r>
            <a:endParaRPr lang="en-US" sz="1400" dirty="0"/>
          </a:p>
        </p:txBody>
      </p:sp>
      <p:sp>
        <p:nvSpPr>
          <p:cNvPr id="23" name="Box FriendsController FriendsGatew"/>
          <p:cNvSpPr/>
          <p:nvPr/>
        </p:nvSpPr>
        <p:spPr>
          <a:xfrm>
            <a:off x="7351776" y="3108960"/>
            <a:ext cx="2057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51776" y="3108960"/>
            <a:ext cx="205740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FriendsController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FriendsGateway /friends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PresenceService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1828800"/>
            <a:ext cx="4562856" cy="685800"/>
          </a:xfrm>
          <a:prstGeom prst="line">
            <a:avLst/>
          </a:prstGeom>
          <a:noFill/>
          <a:ln w="12700">
            <a:solidFill>
              <a:srgbClr val="C9C0AC"/>
            </a:solidFill>
            <a:prstDash val="solid"/>
          </a:ln>
        </p:spPr>
      </p:sp>
      <p:sp>
        <p:nvSpPr>
          <p:cNvPr id="26" name="Box GameModule"/>
          <p:cNvSpPr/>
          <p:nvPr/>
        </p:nvSpPr>
        <p:spPr>
          <a:xfrm>
            <a:off x="9619488" y="2514600"/>
            <a:ext cx="20574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19488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GameModule</a:t>
            </a:r>
            <a:endParaRPr lang="en-US" sz="1400" dirty="0"/>
          </a:p>
        </p:txBody>
      </p:sp>
      <p:sp>
        <p:nvSpPr>
          <p:cNvPr id="28" name="Box GameController (HTTP) GameGate"/>
          <p:cNvSpPr/>
          <p:nvPr/>
        </p:nvSpPr>
        <p:spPr>
          <a:xfrm>
            <a:off x="9619488" y="3108960"/>
            <a:ext cx="2057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19488" y="3108960"/>
            <a:ext cx="205740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GameController (HTTP)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GameGateway (WS)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GameService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engine/ (pur)</a:t>
            </a:r>
            <a:endParaRPr lang="en-US" sz="1200" dirty="0"/>
          </a:p>
        </p:txBody>
      </p:sp>
      <p:sp>
        <p:nvSpPr>
          <p:cNvPr id="30" name="Code panel"/>
          <p:cNvSpPr/>
          <p:nvPr/>
        </p:nvSpPr>
        <p:spPr>
          <a:xfrm>
            <a:off x="548640" y="47548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773168"/>
            <a:ext cx="55412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47731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backend/src/main.ts</a:t>
            </a:r>
            <a:endParaRPr lang="en-US" sz="1050" dirty="0"/>
          </a:p>
        </p:txBody>
      </p:sp>
      <p:sp>
        <p:nvSpPr>
          <p:cNvPr id="33" name="Code backend/src/main.ts"/>
          <p:cNvSpPr txBox="1"/>
          <p:nvPr/>
        </p:nvSpPr>
        <p:spPr>
          <a:xfrm>
            <a:off x="685800" y="516636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setGlobalPrefix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'api'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cookieParser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80060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Préfixe global /api : nginx n'a qu'une règle pour le backend.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JwtModule global : JwtService injectable aussi dans les gateways WebSocket.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avatars sont servis en statique, avec nosniff.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routes HTTP (toutes sous /api)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760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737360"/>
                <a:gridCol w="6858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Route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Auth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/auth/register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B7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Crée le user et un profil vide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/auth/login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D6B7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Pose les cookies jwt + refresh_token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/auth/refresh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cookie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Rotation des deux tokens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PATCH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/auth/password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 le mot de passe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/auth/logout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Révoque le refresh token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/profile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Profil + stats (amis, parties)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PATCH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/profile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Pseudo, bio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/profile/avatar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Upload (2 Mo max)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/profile/avatar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✔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Retour à l'avatar par défaut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2402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Route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/friends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Amis, demandes reçues / envoyées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/friends/requests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Demande par pseudo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/friends/requests/:id/accept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Accepter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/friends/:id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Retirer / refuser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/game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Crée une partie (siège 0)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/game/join/:inviteCode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Rejoint une partie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/game/start/:gameId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L'hôte lance, IA en renfort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537960" y="4709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6B7A"/>
                </a:solidFill>
              </a:rPr>
              <a:t>Amis et jeu : tout est protégé par AuthGuard. Les routes de jeu ne renvoient jamais l'état de la partie : il arrive toujours par WebSocket.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Login : bcrypt pour le mot de passe, deux JWT en cookies</a:t>
            </a:r>
            <a:endParaRPr lang="en-US" sz="3000" dirty="0"/>
          </a:p>
        </p:txBody>
      </p:sp>
      <p:sp>
        <p:nvSpPr>
          <p:cNvPr id="3" name="Box POST /api/auth/login"/>
          <p:cNvSpPr/>
          <p:nvPr/>
        </p:nvSpPr>
        <p:spPr>
          <a:xfrm>
            <a:off x="548640" y="1371600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14600" y="2011680"/>
            <a:ext cx="0" cy="292608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6" name="Box findUnique({ email })"/>
          <p:cNvSpPr/>
          <p:nvPr/>
        </p:nvSpPr>
        <p:spPr>
          <a:xfrm>
            <a:off x="548640" y="2304288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04288"/>
            <a:ext cx="3931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findUnique({ email })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14600" y="2944368"/>
            <a:ext cx="0" cy="292608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Box bcrypt.compare(mdp, hash)"/>
          <p:cNvSpPr/>
          <p:nvPr/>
        </p:nvSpPr>
        <p:spPr>
          <a:xfrm>
            <a:off x="548640" y="3236976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36976"/>
            <a:ext cx="3931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bcrypt.compare(mdp, hash)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14600" y="3877056"/>
            <a:ext cx="0" cy="292608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Box createSession(userId)"/>
          <p:cNvSpPr/>
          <p:nvPr/>
        </p:nvSpPr>
        <p:spPr>
          <a:xfrm>
            <a:off x="548640" y="4169664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9664"/>
            <a:ext cx="39319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createSession(userId)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14600" y="4809744"/>
            <a:ext cx="0" cy="292608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5" name="Box Set-Cookie jwt (15 min) Set-Co"/>
          <p:cNvSpPr/>
          <p:nvPr/>
        </p:nvSpPr>
        <p:spPr>
          <a:xfrm>
            <a:off x="548640" y="5102352"/>
            <a:ext cx="393192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02352"/>
            <a:ext cx="39319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 jwt (15 min)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 refresh_token (7 j)</a:t>
            </a:r>
            <a:endParaRPr lang="en-US" sz="1250" dirty="0"/>
          </a:p>
        </p:txBody>
      </p:sp>
      <p:sp>
        <p:nvSpPr>
          <p:cNvPr id="17" name="Code panel"/>
          <p:cNvSpPr/>
          <p:nvPr/>
        </p:nvSpPr>
        <p:spPr>
          <a:xfrm>
            <a:off x="4800600" y="132588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1344168"/>
            <a:ext cx="682142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13441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backend/src/auth/auth.service.ts</a:t>
            </a:r>
            <a:endParaRPr lang="en-US" sz="1050" dirty="0"/>
          </a:p>
        </p:txBody>
      </p:sp>
      <p:sp>
        <p:nvSpPr>
          <p:cNvPr id="20" name="Code backend/src/auth/auth.service.ts"/>
          <p:cNvSpPr txBox="1"/>
          <p:nvPr/>
        </p:nvSpPr>
        <p:spPr>
          <a:xfrm>
            <a:off x="4937760" y="173736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genSalt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hashPassword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;})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findUnique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UnauthorizedException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password_comp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password_comp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UnauthorizedException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createSession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Refresh token : rotation à chaque usage, révocable en base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035040" cy="4892040"/>
          </a:xfrm>
          <a:prstGeom prst="roundRect">
            <a:avLst>
              <a:gd name="adj" fmla="val 1495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9984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backend/src/auth/auth.service.ts</a:t>
            </a:r>
            <a:endParaRPr lang="en-US" sz="1050" dirty="0"/>
          </a:p>
        </p:txBody>
      </p:sp>
      <p:sp>
        <p:nvSpPr>
          <p:cNvPr id="6" name="Code backend/src/auth/auth.service.ts"/>
          <p:cNvSpPr txBox="1"/>
          <p:nvPr/>
        </p:nvSpPr>
        <p:spPr>
          <a:xfrm>
            <a:off x="685800" y="173736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createHash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'sha256'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digest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'hex'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createSession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jwtService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signAsync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Sans jwtid, deux tokens crees dans la meme seconde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sont identiques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refresh_token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jwtService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signAsync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JWT_REFRESH_SECRET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expiresIn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'7d'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randomUUID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hashedRefreshToken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refresh_token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150" dirty="0"/>
          </a:p>
        </p:txBody>
      </p:sp>
      <p:sp>
        <p:nvSpPr>
          <p:cNvPr id="7" name="Card Stocké haché"/>
          <p:cNvSpPr/>
          <p:nvPr/>
        </p:nvSpPr>
        <p:spPr>
          <a:xfrm>
            <a:off x="6858000" y="1325880"/>
            <a:ext cx="48006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wn"/>
          <p:cNvSpPr/>
          <p:nvPr/>
        </p:nvSpPr>
        <p:spPr>
          <a:xfrm>
            <a:off x="7086600" y="15727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150876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Stocké haché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Seul le SHA-256 du refresh token est en base (User.hashedRefreshToken). Logout = on le met à null.</a:t>
            </a:r>
            <a:endParaRPr lang="en-US" sz="1400" dirty="0"/>
          </a:p>
        </p:txBody>
      </p:sp>
      <p:sp>
        <p:nvSpPr>
          <p:cNvPr id="11" name="Card Pourquoi pas bcrypt ici ?"/>
          <p:cNvSpPr/>
          <p:nvPr/>
        </p:nvSpPr>
        <p:spPr>
          <a:xfrm>
            <a:off x="6858000" y="2926080"/>
            <a:ext cx="48006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wn"/>
          <p:cNvSpPr/>
          <p:nvPr/>
        </p:nvSpPr>
        <p:spPr>
          <a:xfrm>
            <a:off x="7086600" y="317296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310896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pas bcrypt ici 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7033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bcrypt ne lit que 72 octets : tous les JWT d'un même user commencent pareil. timingSafeEqual évite les attaques temporelles.</a:t>
            </a:r>
            <a:endParaRPr lang="en-US" sz="1400" dirty="0"/>
          </a:p>
        </p:txBody>
      </p:sp>
      <p:sp>
        <p:nvSpPr>
          <p:cNvPr id="15" name="Card Côté front"/>
          <p:cNvSpPr/>
          <p:nvPr/>
        </p:nvSpPr>
        <p:spPr>
          <a:xfrm>
            <a:off x="6858000" y="4526280"/>
            <a:ext cx="480060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wn"/>
          <p:cNvSpPr/>
          <p:nvPr/>
        </p:nvSpPr>
        <p:spPr>
          <a:xfrm>
            <a:off x="7086600" y="477316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470916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Côté front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53035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fetchWithRefresh : sur un 401, appelle /auth/refresh une seule fois (promesse partagée), puis rejoue la requête.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AuthGuard : le JWT est lu dans un cookie httpOnly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6327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backend/src/auth/guards/jwt-auth.guard.ts</a:t>
            </a:r>
            <a:endParaRPr lang="en-US" sz="1050" dirty="0"/>
          </a:p>
        </p:txBody>
      </p:sp>
      <p:sp>
        <p:nvSpPr>
          <p:cNvPr id="6" name="Code backend/src/auth/guards/jwt-auth.guard.ts"/>
          <p:cNvSpPr txBox="1"/>
          <p:nvPr/>
        </p:nvSpPr>
        <p:spPr>
          <a:xfrm>
            <a:off x="685800" y="1737360"/>
            <a:ext cx="5394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canActivate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ExecutionContext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,):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switchToHttp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getRequest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'jwt'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UnauthorizedException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jwtService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UnauthorizedException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"Guard problem"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Code panel"/>
          <p:cNvSpPr/>
          <p:nvPr/>
        </p:nvSpPr>
        <p:spPr>
          <a:xfrm>
            <a:off x="548640" y="4572000"/>
            <a:ext cx="5669280" cy="1645920"/>
          </a:xfrm>
          <a:prstGeom prst="roundRect">
            <a:avLst>
              <a:gd name="adj" fmla="val 4444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590288"/>
            <a:ext cx="56327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902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backend/src/auth/cookies.ts</a:t>
            </a:r>
            <a:endParaRPr lang="en-US" sz="1050" dirty="0"/>
          </a:p>
        </p:txBody>
      </p:sp>
      <p:sp>
        <p:nvSpPr>
          <p:cNvPr id="10" name="Code backend/src/auth/cookies.ts"/>
          <p:cNvSpPr txBox="1"/>
          <p:nvPr/>
        </p:nvSpPr>
        <p:spPr>
          <a:xfrm>
            <a:off x="685800" y="498348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ACCESS_COOKIE_OPTIONS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CookieOptions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httpOnly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sameSite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'strict'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1" name="Pawn"/>
          <p:cNvSpPr/>
          <p:nvPr/>
        </p:nvSpPr>
        <p:spPr>
          <a:xfrm>
            <a:off x="6537960" y="14173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1371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httpOnly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7556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JavaScript de la page ne peut pas lire le token : une faille XSS ne permet pas de le voler.</a:t>
            </a:r>
            <a:endParaRPr lang="en-US" sz="1400" dirty="0"/>
          </a:p>
        </p:txBody>
      </p:sp>
      <p:sp>
        <p:nvSpPr>
          <p:cNvPr id="14" name="Pawn"/>
          <p:cNvSpPr/>
          <p:nvPr/>
        </p:nvSpPr>
        <p:spPr>
          <a:xfrm>
            <a:off x="6537960" y="26060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2560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944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cookie ne part qu'en HTTPS.</a:t>
            </a:r>
            <a:endParaRPr lang="en-US" sz="1400" dirty="0"/>
          </a:p>
        </p:txBody>
      </p:sp>
      <p:sp>
        <p:nvSpPr>
          <p:cNvPr id="17" name="Pawn"/>
          <p:cNvSpPr/>
          <p:nvPr/>
        </p:nvSpPr>
        <p:spPr>
          <a:xfrm>
            <a:off x="6537960" y="379476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6600" y="3749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sameSite: strict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133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 envoyé depuis un autre site : protège du CSRF.</a:t>
            </a:r>
            <a:endParaRPr lang="en-US" sz="1400" dirty="0"/>
          </a:p>
        </p:txBody>
      </p:sp>
      <p:sp>
        <p:nvSpPr>
          <p:cNvPr id="20" name="Pawn"/>
          <p:cNvSpPr/>
          <p:nvPr/>
        </p:nvSpPr>
        <p:spPr>
          <a:xfrm>
            <a:off x="6537960" y="49834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4937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53218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Même vérification au handshake : readCookie(headers.cookie, 'jwt') puis jwtService.verify.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Profil et avatar : on vérifie le contenu, pas le nom du fichier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492240" cy="2880360"/>
          </a:xfrm>
          <a:prstGeom prst="roundRect">
            <a:avLst>
              <a:gd name="adj" fmla="val 2540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64556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backend/src/profile/avatar-storage.ts</a:t>
            </a:r>
            <a:endParaRPr lang="en-US" sz="1050" dirty="0"/>
          </a:p>
        </p:txBody>
      </p:sp>
      <p:sp>
        <p:nvSpPr>
          <p:cNvPr id="6" name="Code backend/src/profile/avatar-storage.ts"/>
          <p:cNvSpPr txBox="1"/>
          <p:nvPr/>
        </p:nvSpPr>
        <p:spPr>
          <a:xfrm>
            <a:off x="685800" y="173736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 mimetype envoye par le navigateur peut mentir, on lit les premiers octets.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 de SVG : il peut contenir du JavaScript.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detectImageExtension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([0x89, 0x50, 0x4e, 0x47, 0x0d,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0x0a, 0x1a, 0x0a])))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'png'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([0xff, 0xd8, 0xff])))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'jpg'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'latin1'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'GIF8'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'gif'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'latin1'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'RIFF'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subarray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'latin1'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'WEBP'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'webp'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ode panel"/>
          <p:cNvSpPr/>
          <p:nvPr/>
        </p:nvSpPr>
        <p:spPr>
          <a:xfrm>
            <a:off x="548640" y="4343400"/>
            <a:ext cx="6492240" cy="1874520"/>
          </a:xfrm>
          <a:prstGeom prst="roundRect">
            <a:avLst>
              <a:gd name="adj" fmla="val 3902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361688"/>
            <a:ext cx="64556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36168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backend/src/profile/profile.service.ts</a:t>
            </a:r>
            <a:endParaRPr lang="en-US" sz="1050" dirty="0"/>
          </a:p>
        </p:txBody>
      </p:sp>
      <p:sp>
        <p:nvSpPr>
          <p:cNvPr id="10" name="Code backend/src/profile/profile.service.ts"/>
          <p:cNvSpPr txBox="1"/>
          <p:nvPr/>
        </p:nvSpPr>
        <p:spPr>
          <a:xfrm>
            <a:off x="685800" y="475488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NAME_PATTERN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/^[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-9_-]{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}$/;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BIO_MAX_LENGTH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!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NAME_PATTERN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BadRequestException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-');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userData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371600"/>
            <a:ext cx="4343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Magic bytes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 type est lu dans les premiers octets ; le mimetype envoyé peut mentir.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Pas de SVG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il peut contenir du JavaScript.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Nom aléatoire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(userId-UUID) et basename() à la suppression : pas de path traversal.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2 Mo max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(limite de multer) ; l'ancien fichier est supprimé.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Pseudo unique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l'erreur Prisma P2002 devient un 409 lisible.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Avatar par défaut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les initiales du pseudo (AvatarFallback).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Amis : des demandes croisées sans course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766560" cy="3794760"/>
          </a:xfrm>
          <a:prstGeom prst="roundRect">
            <a:avLst>
              <a:gd name="adj" fmla="val 1928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67299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backend/src/friends/friends.service.ts</a:t>
            </a:r>
            <a:endParaRPr lang="en-US" sz="1050" dirty="0"/>
          </a:p>
        </p:txBody>
      </p:sp>
      <p:sp>
        <p:nvSpPr>
          <p:cNvPr id="6" name="Code backend/src/friends/friends.service.ts"/>
          <p:cNvSpPr txBox="1"/>
          <p:nvPr/>
        </p:nvSpPr>
        <p:spPr>
          <a:xfrm>
            <a:off x="685800" y="173736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createOrAcceptRequest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'accepted'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.$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friendship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findFirst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pairOf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friendship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addresseeId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'accepted'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ConflictException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'You are already friends'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ConflictException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'Request already sent'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friendship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'accepted'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'accepted'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TransactionIsolationLevel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Serializable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Box A"/>
          <p:cNvSpPr/>
          <p:nvPr/>
        </p:nvSpPr>
        <p:spPr>
          <a:xfrm>
            <a:off x="758952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Box B"/>
          <p:cNvSpPr/>
          <p:nvPr/>
        </p:nvSpPr>
        <p:spPr>
          <a:xfrm>
            <a:off x="1037844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7844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1554480"/>
            <a:ext cx="150876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59536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demande → pending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8869680" y="1783080"/>
            <a:ext cx="150876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5039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B demande A → accepted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423160"/>
            <a:ext cx="4069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Course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et B s'ajoutent au même instant. Postgres refuse une des deux transactions ; rejouée (3 essais max), elle accepte la demande de l'autre.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Présence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PresenceService compte les sockets par user. En ligne au 1er onglet, hors ligne au dernier.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Temps réel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chaque changement émet friends-changed dans la room user-&lt;id&gt; ; le front recharge la liste.</a:t>
            </a:r>
            <a:endParaRPr lang="en-US" sz="1400" dirty="0"/>
          </a:p>
        </p:txBody>
      </p:sp>
      <p:sp>
        <p:nvSpPr>
          <p:cNvPr id="16" name="Code panel"/>
          <p:cNvSpPr/>
          <p:nvPr/>
        </p:nvSpPr>
        <p:spPr>
          <a:xfrm>
            <a:off x="548640" y="5257800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5276088"/>
            <a:ext cx="67299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2760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backend/prisma/schema.prisma</a:t>
            </a:r>
            <a:endParaRPr lang="en-US" sz="1050" dirty="0"/>
          </a:p>
        </p:txBody>
      </p:sp>
      <p:sp>
        <p:nvSpPr>
          <p:cNvPr id="19" name="Code backend/prisma/schema.prisma"/>
          <p:cNvSpPr txBox="1"/>
          <p:nvPr/>
        </p:nvSpPr>
        <p:spPr>
          <a:xfrm>
            <a:off x="685800" y="56692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@unique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addresseeId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Base de données : 5 modèles Prisma, relations explicites</a:t>
            </a:r>
            <a:endParaRPr lang="en-US" sz="3000" dirty="0"/>
          </a:p>
        </p:txBody>
      </p:sp>
      <p:sp>
        <p:nvSpPr>
          <p:cNvPr id="3" name="Box User"/>
          <p:cNvSpPr/>
          <p:nvPr/>
        </p:nvSpPr>
        <p:spPr>
          <a:xfrm>
            <a:off x="4343400" y="1325880"/>
            <a:ext cx="3108960" cy="4572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4340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User</a:t>
            </a:r>
            <a:endParaRPr lang="en-US" sz="1500" dirty="0"/>
          </a:p>
        </p:txBody>
      </p:sp>
      <p:sp>
        <p:nvSpPr>
          <p:cNvPr id="5" name="Box id          PK name        uni"/>
          <p:cNvSpPr/>
          <p:nvPr/>
        </p:nvSpPr>
        <p:spPr>
          <a:xfrm>
            <a:off x="4343400" y="1783080"/>
            <a:ext cx="3108960" cy="2039112"/>
          </a:xfrm>
          <a:prstGeom prst="roundRect">
            <a:avLst>
              <a:gd name="adj" fmla="val 22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43400" y="1783080"/>
            <a:ext cx="3108960" cy="2039112"/>
          </a:xfrm>
          <a:prstGeom prst="rect">
            <a:avLst/>
          </a:prstGeom>
          <a:noFill/>
          <a:ln/>
        </p:spPr>
        <p:txBody>
          <a:bodyPr wrap="square" lIns="1270" tIns="1524" rIns="1524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PK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unique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    unique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  bcrypt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hashedRefreshToken?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isAdmin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/ updatedAt</a:t>
            </a:r>
            <a:endParaRPr lang="en-US" sz="1150" dirty="0"/>
          </a:p>
        </p:txBody>
      </p:sp>
      <p:sp>
        <p:nvSpPr>
          <p:cNvPr id="7" name="Box Profile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Profile</a:t>
            </a:r>
            <a:endParaRPr lang="en-US" sz="1500" dirty="0"/>
          </a:p>
        </p:txBody>
      </p:sp>
      <p:sp>
        <p:nvSpPr>
          <p:cNvPr id="9" name="Box userId   unique FK bio? avatar"/>
          <p:cNvSpPr/>
          <p:nvPr/>
        </p:nvSpPr>
        <p:spPr>
          <a:xfrm>
            <a:off x="548640" y="1783080"/>
            <a:ext cx="2743200" cy="978408"/>
          </a:xfrm>
          <a:prstGeom prst="roundRect">
            <a:avLst>
              <a:gd name="adj" fmla="val 46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83080"/>
            <a:ext cx="2743200" cy="978408"/>
          </a:xfrm>
          <a:prstGeom prst="rect">
            <a:avLst/>
          </a:prstGeom>
          <a:noFill/>
          <a:ln/>
        </p:spPr>
        <p:txBody>
          <a:bodyPr wrap="square" lIns="1270" tIns="1524" rIns="1524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  unique FK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bio?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avatarUrl?</a:t>
            </a:r>
            <a:endParaRPr lang="en-US" sz="1150" dirty="0"/>
          </a:p>
        </p:txBody>
      </p:sp>
      <p:sp>
        <p:nvSpPr>
          <p:cNvPr id="11" name="Box Friendship"/>
          <p:cNvSpPr/>
          <p:nvPr/>
        </p:nvSpPr>
        <p:spPr>
          <a:xfrm>
            <a:off x="8503920" y="1325880"/>
            <a:ext cx="3154680" cy="4572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1325880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Friendship</a:t>
            </a:r>
            <a:endParaRPr lang="en-US" sz="1500" dirty="0"/>
          </a:p>
        </p:txBody>
      </p:sp>
      <p:sp>
        <p:nvSpPr>
          <p:cNvPr id="13" name="Box id            PK requesterId  "/>
          <p:cNvSpPr/>
          <p:nvPr/>
        </p:nvSpPr>
        <p:spPr>
          <a:xfrm>
            <a:off x="8503920" y="1783080"/>
            <a:ext cx="3154680" cy="1773936"/>
          </a:xfrm>
          <a:prstGeom prst="roundRect">
            <a:avLst>
              <a:gd name="adj" fmla="val 25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1783080"/>
            <a:ext cx="3154680" cy="1773936"/>
          </a:xfrm>
          <a:prstGeom prst="rect">
            <a:avLst/>
          </a:prstGeom>
          <a:noFill/>
          <a:ln/>
        </p:spPr>
        <p:txBody>
          <a:bodyPr wrap="square" lIns="1270" tIns="1524" rIns="1524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 PK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requesterId   FK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addresseeId   FK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pending|accepted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@@unique(requester,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addressee)</a:t>
            </a:r>
            <a:endParaRPr lang="en-US" sz="1150" dirty="0"/>
          </a:p>
        </p:txBody>
      </p:sp>
      <p:sp>
        <p:nvSpPr>
          <p:cNvPr id="15" name="Box GamePlayer"/>
          <p:cNvSpPr/>
          <p:nvPr/>
        </p:nvSpPr>
        <p:spPr>
          <a:xfrm>
            <a:off x="4343400" y="4206240"/>
            <a:ext cx="3108960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GamePlayer</a:t>
            </a:r>
            <a:endParaRPr lang="en-US" sz="1500" dirty="0"/>
          </a:p>
        </p:txBody>
      </p:sp>
      <p:sp>
        <p:nvSpPr>
          <p:cNvPr id="17" name="Box idPlayer  PK gameId    FK user"/>
          <p:cNvSpPr/>
          <p:nvPr/>
        </p:nvSpPr>
        <p:spPr>
          <a:xfrm>
            <a:off x="4343400" y="4663440"/>
            <a:ext cx="3108960" cy="1243584"/>
          </a:xfrm>
          <a:prstGeom prst="roundRect">
            <a:avLst>
              <a:gd name="adj" fmla="val 36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4663440"/>
            <a:ext cx="3108960" cy="1243584"/>
          </a:xfrm>
          <a:prstGeom prst="rect">
            <a:avLst/>
          </a:prstGeom>
          <a:noFill/>
          <a:ln/>
        </p:spPr>
        <p:txBody>
          <a:bodyPr wrap="square" lIns="1270" tIns="1524" rIns="1524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idPlayer  PK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gameId    FK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   FK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0..3</a:t>
            </a:r>
            <a:endParaRPr lang="en-US" sz="1150" dirty="0"/>
          </a:p>
        </p:txBody>
      </p:sp>
      <p:sp>
        <p:nvSpPr>
          <p:cNvPr id="19" name="Box Game"/>
          <p:cNvSpPr/>
          <p:nvPr/>
        </p:nvSpPr>
        <p:spPr>
          <a:xfrm>
            <a:off x="8503920" y="4206240"/>
            <a:ext cx="3154680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4206240"/>
            <a:ext cx="3154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Game</a:t>
            </a:r>
            <a:endParaRPr lang="en-US" sz="1500" dirty="0"/>
          </a:p>
        </p:txBody>
      </p:sp>
      <p:sp>
        <p:nvSpPr>
          <p:cNvPr id="21" name="Box idGame      PK inviteCode  uni"/>
          <p:cNvSpPr/>
          <p:nvPr/>
        </p:nvSpPr>
        <p:spPr>
          <a:xfrm>
            <a:off x="8503920" y="4663440"/>
            <a:ext cx="3154680" cy="150876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0" y="4663440"/>
            <a:ext cx="3154680" cy="1508760"/>
          </a:xfrm>
          <a:prstGeom prst="rect">
            <a:avLst/>
          </a:prstGeom>
          <a:noFill/>
          <a:ln/>
        </p:spPr>
        <p:txBody>
          <a:bodyPr wrap="square" lIns="1270" tIns="1524" rIns="1524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idGame      PK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inviteCode  unique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 waiting|playing|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finished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winnerSeat?  finishedAt?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1828800"/>
            <a:ext cx="10515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46120" y="15087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1 —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2103120"/>
            <a:ext cx="10515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783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1 — * (×2)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7880" y="3611880"/>
            <a:ext cx="0" cy="59436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37719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1 — *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52360" y="4572000"/>
            <a:ext cx="10515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4251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* — 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2926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base ne contient pas les pions ni les cartes : l'état d'une partie en cours vit en mémoire. Les IA ne sont pas stockées (pas de compte).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937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6B7A"/>
                </a:solidFill>
              </a:rPr>
              <a:t>Migrations versionnées dans backend/prisma/migrations, appliquées au démarrage (migrate deploy).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wn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 moteur de jeu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backend/src/game/engine — des fonctions pures, sans Nest ni base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plateau : 72 cases en numérotation absolue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63240" y="56692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65635" y="573934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91639" y="5716442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20303" y="5678458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2929" y="562568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0791" y="555852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5124" y="5477490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7112" y="5383196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7881" y="5276360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8491" y="5157797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9928" y="5028407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3092" y="4889176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98798" y="4741164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17763" y="4585497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0603" y="442335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30" y="425598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9846" y="408464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6939" y="391065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365760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6939" y="355999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9846" y="338599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97830" y="321466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0603" y="304728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17763" y="2885151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98798" y="2729484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93092" y="2581472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9928" y="2442241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18491" y="2312851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47881" y="2194288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87112" y="2087452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5124" y="1993158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90791" y="191212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52929" y="184496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20303" y="1792190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91639" y="1754206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65635" y="173129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164592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6293" y="173129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90289" y="1754206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61625" y="1792190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28999" y="184496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91137" y="191212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46804" y="1993158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4816" y="2087452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4047" y="2194288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63437" y="2312851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2000" y="2442241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88836" y="2581472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83130" y="2729484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64165" y="2885151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31325" y="304728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84098" y="321466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2082" y="338599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44989" y="355999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74920" y="365760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44989" y="3910653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2082" y="408464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84098" y="425598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31325" y="442335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64165" y="4585497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83130" y="4741164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88836" y="4889176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82000" y="5028407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63437" y="5157797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34047" y="5276360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94816" y="5383196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46804" y="5477490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91137" y="555852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28999" y="5625685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61625" y="5678458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90289" y="5716442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16293" y="5739349"/>
            <a:ext cx="118872" cy="118872"/>
          </a:xfrm>
          <a:prstGeom prst="ellipse">
            <a:avLst/>
          </a:prstGeom>
          <a:solidFill>
            <a:srgbClr val="B9B1A0"/>
          </a:solidFill>
          <a:ln w="12700">
            <a:solidFill>
              <a:srgbClr val="B9B1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7766" y="5390625"/>
            <a:ext cx="164592" cy="164592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96767" y="5125652"/>
            <a:ext cx="164592" cy="164592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25767" y="4860679"/>
            <a:ext cx="164592" cy="164592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54768" y="4595707"/>
            <a:ext cx="164592" cy="164592"/>
          </a:xfrm>
          <a:prstGeom prst="rect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651760" y="6108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S0 : 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439943" y="4162126"/>
            <a:ext cx="164592" cy="164592"/>
          </a:xfrm>
          <a:prstGeom prst="rect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04916" y="4091127"/>
            <a:ext cx="164592" cy="164592"/>
          </a:xfrm>
          <a:prstGeom prst="rect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69889" y="4020127"/>
            <a:ext cx="164592" cy="164592"/>
          </a:xfrm>
          <a:prstGeom prst="rect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234861" y="3949128"/>
            <a:ext cx="164592" cy="164592"/>
          </a:xfrm>
          <a:prstGeom prst="rect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82880" y="36393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S1 : 18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2668442" y="2034303"/>
            <a:ext cx="164592" cy="164592"/>
          </a:xfrm>
          <a:prstGeom prst="rect">
            <a:avLst/>
          </a:prstGeom>
          <a:solidFill>
            <a:schemeClr val="accent4">
              <a:alpha val="6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39441" y="2299276"/>
            <a:ext cx="164592" cy="164592"/>
          </a:xfrm>
          <a:prstGeom prst="rect">
            <a:avLst/>
          </a:prstGeom>
          <a:solidFill>
            <a:schemeClr val="accent4">
              <a:alpha val="6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810441" y="2564249"/>
            <a:ext cx="164592" cy="164592"/>
          </a:xfrm>
          <a:prstGeom prst="rect">
            <a:avLst/>
          </a:prstGeom>
          <a:solidFill>
            <a:schemeClr val="accent4">
              <a:alpha val="6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81440" y="2829221"/>
            <a:ext cx="164592" cy="164592"/>
          </a:xfrm>
          <a:prstGeom prst="rect">
            <a:avLst/>
          </a:prstGeom>
          <a:solidFill>
            <a:schemeClr val="accent4">
              <a:alpha val="6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2651760" y="1170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S2 : 36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796265" y="3262802"/>
            <a:ext cx="164592" cy="164592"/>
          </a:xfrm>
          <a:prstGeom prst="rect">
            <a:avLst/>
          </a:prstGeom>
          <a:solidFill>
            <a:schemeClr val="accent5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31292" y="3333801"/>
            <a:ext cx="164592" cy="164592"/>
          </a:xfrm>
          <a:prstGeom prst="rect">
            <a:avLst/>
          </a:prstGeom>
          <a:solidFill>
            <a:schemeClr val="accent5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266319" y="3404801"/>
            <a:ext cx="164592" cy="164592"/>
          </a:xfrm>
          <a:prstGeom prst="rect">
            <a:avLst/>
          </a:prstGeom>
          <a:solidFill>
            <a:schemeClr val="accent5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01347" y="3475800"/>
            <a:ext cx="164592" cy="164592"/>
          </a:xfrm>
          <a:prstGeom prst="rect">
            <a:avLst/>
          </a:prstGeom>
          <a:solidFill>
            <a:schemeClr val="accent5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120640" y="36393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S3 : 54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22860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sortie (grand rond)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B7A"/>
                </a:solidFill>
              </a:rPr>
              <a:t>maison (4 carrés)</a:t>
            </a:r>
            <a:endParaRPr lang="en-US" sz="1100" dirty="0"/>
          </a:p>
        </p:txBody>
      </p:sp>
      <p:sp>
        <p:nvSpPr>
          <p:cNvPr id="96" name="Code panel"/>
          <p:cNvSpPr/>
          <p:nvPr/>
        </p:nvSpPr>
        <p:spPr>
          <a:xfrm>
            <a:off x="6400800" y="1325880"/>
            <a:ext cx="5257800" cy="3337560"/>
          </a:xfrm>
          <a:prstGeom prst="roundRect">
            <a:avLst>
              <a:gd name="adj" fmla="val 2192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19088" y="1344168"/>
            <a:ext cx="522122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583680" y="134416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engine/board.ts</a:t>
            </a:r>
            <a:endParaRPr lang="en-US" sz="1050" dirty="0"/>
          </a:p>
        </p:txBody>
      </p:sp>
      <p:sp>
        <p:nvSpPr>
          <p:cNvPr id="99" name="Code engine/board.ts"/>
          <p:cNvSpPr txBox="1"/>
          <p:nvPr/>
        </p:nvSpPr>
        <p:spPr>
          <a:xfrm>
            <a:off x="6537960" y="1737360"/>
            <a:ext cx="4983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startCell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CELLS_PER_SEAT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getStartHome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startingCell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startCell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startingCell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BOARD_CELLS_COUNT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startingCell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homeCellIndex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toEntry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getStartHome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BOARD_CELLS_COUNT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toEntry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0" name="Text 98"/>
          <p:cNvSpPr txBox="1"/>
          <p:nvPr/>
        </p:nvSpPr>
        <p:spPr>
          <a:xfrm>
            <a:off x="6400800" y="480060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même numérotation pour tout le monde : c'est le front qui tourne le plateau.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mod() fait boucler 71 → 0, y compris en arrière (le 4).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Pion : { zone: 'spawn' } | { zone: 'board', cell } | { zone: 'home', cell }.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Tout le jeu tient dans quelques types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675120" cy="4892040"/>
          </a:xfrm>
          <a:prstGeom prst="roundRect">
            <a:avLst>
              <a:gd name="adj" fmla="val 1495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663854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backend/src/game/game.types.ts</a:t>
            </a:r>
            <a:endParaRPr lang="en-US" sz="1050" dirty="0"/>
          </a:p>
        </p:txBody>
      </p:sp>
      <p:sp>
        <p:nvSpPr>
          <p:cNvPr id="6" name="Code backend/src/game/game.types.ts"/>
          <p:cNvSpPr txBox="1"/>
          <p:nvPr/>
        </p:nvSpPr>
        <p:spPr>
          <a:xfrm>
            <a:off x="685800" y="173736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`${CardColor}_${CardValue}`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PawnPosition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'spawn'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'board'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'home'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'enter'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'exit'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'swap'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pawnIdA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pawnIdB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seul morceau du 7 : un emit par morceau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'split'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'discard'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**********************************************************************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**** */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GameAction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newRound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 qu'un joueur a le droit de voir : pas la main des autres, pas la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pioche.</a:t>
            </a:r>
            <a:endParaRPr lang="en-US" sz="1150" dirty="0"/>
          </a:p>
        </p:txBody>
      </p:sp>
      <p:sp>
        <p:nvSpPr>
          <p:cNvPr id="7" name="Card Des ids, jamais des cases"/>
          <p:cNvSpPr/>
          <p:nvPr/>
        </p:nvSpPr>
        <p:spPr>
          <a:xfrm>
            <a:off x="7498080" y="1325880"/>
            <a:ext cx="4160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wn"/>
          <p:cNvSpPr/>
          <p:nvPr/>
        </p:nvSpPr>
        <p:spPr>
          <a:xfrm>
            <a:off x="7726680" y="15727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50876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ids, jamais des cases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1031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Une action dit « quelle carte, quel pion ». Le serveur recalcule seul où il arrive.</a:t>
            </a:r>
            <a:endParaRPr lang="en-US" sz="1400" dirty="0"/>
          </a:p>
        </p:txBody>
      </p:sp>
      <p:sp>
        <p:nvSpPr>
          <p:cNvPr id="11" name="Card Union discriminée"/>
          <p:cNvSpPr/>
          <p:nvPr/>
        </p:nvSpPr>
        <p:spPr>
          <a:xfrm>
            <a:off x="7498080" y="2971800"/>
            <a:ext cx="41605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wn"/>
          <p:cNvSpPr/>
          <p:nvPr/>
        </p:nvSpPr>
        <p:spPr>
          <a:xfrm>
            <a:off x="7726680" y="32186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31546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discriminée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7490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 champ type permet à TypeScript de vérifier chaque cas du switch.</a:t>
            </a:r>
            <a:endParaRPr lang="en-US" sz="1400" dirty="0"/>
          </a:p>
        </p:txBody>
      </p:sp>
      <p:sp>
        <p:nvSpPr>
          <p:cNvPr id="15" name="Card Une seule source"/>
          <p:cNvSpPr/>
          <p:nvPr/>
        </p:nvSpPr>
        <p:spPr>
          <a:xfrm>
            <a:off x="7498080" y="4617720"/>
            <a:ext cx="41605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wn"/>
          <p:cNvSpPr/>
          <p:nvPr/>
        </p:nvSpPr>
        <p:spPr>
          <a:xfrm>
            <a:off x="7726680" y="48646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480060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source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53949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game.types.ts est copié dans le front (gameTypes.ts) : les deux côtés parlent le même langage.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cartes : ce que fait chaque valeur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Carte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Effet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 d'action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 (1), Roi (13)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Sortir un pion du spawn, ou avancer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exit / move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Reculer de 4 cases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move (valeur −4)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Faire avancer un pion adverse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move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Répartir 7 pas entre ses pions, capture sur le passage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split (un emit par morceau)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Valet (11)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Échanger deux pions du plateau, n'avance jamais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swap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Autres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Avancer du nombre de cases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move / enter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Injouable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Défausser la carte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discard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ode panel"/>
          <p:cNvSpPr/>
          <p:nvPr/>
        </p:nvSpPr>
        <p:spPr>
          <a:xfrm>
            <a:off x="7589520" y="132588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07808" y="1344168"/>
            <a:ext cx="40325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3441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engine/deck.ts</a:t>
            </a:r>
            <a:endParaRPr lang="en-US" sz="1050" dirty="0"/>
          </a:p>
        </p:txBody>
      </p:sp>
      <p:sp>
        <p:nvSpPr>
          <p:cNvPr id="7" name="Code engine/deck.ts"/>
          <p:cNvSpPr txBox="1"/>
          <p:nvPr/>
        </p:nvSpPr>
        <p:spPr>
          <a:xfrm>
            <a:off x="7726680" y="1737360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realValueOf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(-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Code panel"/>
          <p:cNvSpPr/>
          <p:nvPr/>
        </p:nvSpPr>
        <p:spPr>
          <a:xfrm>
            <a:off x="7589520" y="3474720"/>
            <a:ext cx="4069080" cy="2103120"/>
          </a:xfrm>
          <a:prstGeom prst="roundRect">
            <a:avLst>
              <a:gd name="adj" fmla="val 3478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7808" y="3493008"/>
            <a:ext cx="40325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349300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engine/deck.ts</a:t>
            </a:r>
            <a:endParaRPr lang="en-US" sz="1050" dirty="0"/>
          </a:p>
        </p:txBody>
      </p:sp>
      <p:sp>
        <p:nvSpPr>
          <p:cNvPr id="11" name="Code engine/deck.ts"/>
          <p:cNvSpPr txBox="1"/>
          <p:nvPr/>
        </p:nvSpPr>
        <p:spPr>
          <a:xfrm>
            <a:off x="7726680" y="388620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Fisher-Yates : de la fin vers le debut, 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echange chaque carte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avec une carte tiree dans la partie pas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encore melangee [0, i]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*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 + 1 pour que i soit atteignable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= 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77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6B7A"/>
                </a:solidFill>
              </a:rPr>
              <a:t>realValueOf est utilisé par la validation ET par l'application du coup : elles ne peuvent pas diverger.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56692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6B7A"/>
                </a:solidFill>
              </a:rPr>
              <a:t>Mélange Fisher-Yates : chaque ordre a la même probabilité.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playTurn : un coup, du contrôle à la redistribution</a:t>
            </a:r>
            <a:endParaRPr lang="en-US" sz="3000" dirty="0"/>
          </a:p>
        </p:txBody>
      </p:sp>
      <p:sp>
        <p:nvSpPr>
          <p:cNvPr id="3" name="Box isLegal"/>
          <p:cNvSpPr/>
          <p:nvPr/>
        </p:nvSpPr>
        <p:spPr>
          <a:xfrm>
            <a:off x="548640" y="1371600"/>
            <a:ext cx="16459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isLegal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refusé → null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1801368"/>
            <a:ext cx="22860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6" name="Box applyAction"/>
          <p:cNvSpPr/>
          <p:nvPr/>
        </p:nvSpPr>
        <p:spPr>
          <a:xfrm>
            <a:off x="2423160" y="1371600"/>
            <a:ext cx="1645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pions + captures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9080" y="1801368"/>
            <a:ext cx="22860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Box playCard"/>
          <p:cNvSpPr/>
          <p:nvPr/>
        </p:nvSpPr>
        <p:spPr>
          <a:xfrm>
            <a:off x="4297680" y="1371600"/>
            <a:ext cx="1645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playCard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main → défausse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801368"/>
            <a:ext cx="22860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Box checkWinner"/>
          <p:cNvSpPr/>
          <p:nvPr/>
        </p:nvSpPr>
        <p:spPr>
          <a:xfrm>
            <a:off x="6172200" y="1371600"/>
            <a:ext cx="1645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checkWinner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pions en maison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18120" y="1801368"/>
            <a:ext cx="22860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5" name="Box nextSeat"/>
          <p:cNvSpPr/>
          <p:nvPr/>
        </p:nvSpPr>
        <p:spPr>
          <a:xfrm>
            <a:off x="8046720" y="1371600"/>
            <a:ext cx="1645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nextSeat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joueur suivant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92640" y="1801368"/>
            <a:ext cx="22860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8" name="Box startRound ?"/>
          <p:cNvSpPr/>
          <p:nvPr/>
        </p:nvSpPr>
        <p:spPr>
          <a:xfrm>
            <a:off x="9921240" y="1371600"/>
            <a:ext cx="1645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92124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startRound ?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mains vides → redonne</a:t>
            </a:r>
            <a:endParaRPr lang="en-US" sz="1400" dirty="0"/>
          </a:p>
        </p:txBody>
      </p:sp>
      <p:sp>
        <p:nvSpPr>
          <p:cNvPr id="20" name="Code panel"/>
          <p:cNvSpPr/>
          <p:nvPr/>
        </p:nvSpPr>
        <p:spPr>
          <a:xfrm>
            <a:off x="548640" y="2514600"/>
            <a:ext cx="6949440" cy="3703320"/>
          </a:xfrm>
          <a:prstGeom prst="roundRect">
            <a:avLst>
              <a:gd name="adj" fmla="val 1975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532888"/>
            <a:ext cx="69128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53288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engine/state.ts</a:t>
            </a:r>
            <a:endParaRPr lang="en-US" sz="1050" dirty="0"/>
          </a:p>
        </p:txBody>
      </p:sp>
      <p:sp>
        <p:nvSpPr>
          <p:cNvPr id="23" name="Code engine/state.ts"/>
          <p:cNvSpPr txBox="1"/>
          <p:nvPr/>
        </p:nvSpPr>
        <p:spPr>
          <a:xfrm>
            <a:off x="685800" y="2926080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//lapplique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//la joue. Pendant un 7, la carte est deja posee depuis le premier morceau.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//ce qui vient de se passer, pour que le front puisse l'animer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checkWinner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{...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'finished'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//le 7 : tant qu'il reste des pas jouables, le meme joueur rejoue.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isRoundOver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newRound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560320"/>
            <a:ext cx="3886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Retourne { game, event }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ou null : jamais de mutation, l'ancien état reste intact.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event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dit ce qui vient de se passer (qui, quelle action, quels pions capturés, nouvelle manche) : le front s'en sert pour animer.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Le 7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garde la main au même joueur tant qu'il reste des pas jouables (pendingSplit).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Une seule source de vérité : getLegalActions</a:t>
            </a:r>
            <a:endParaRPr lang="en-US" sz="3000" dirty="0"/>
          </a:p>
        </p:txBody>
      </p:sp>
      <p:sp>
        <p:nvSpPr>
          <p:cNvPr id="3" name="Box getLegalActions(main, pions, s"/>
          <p:cNvSpPr/>
          <p:nvPr/>
        </p:nvSpPr>
        <p:spPr>
          <a:xfrm>
            <a:off x="4206240" y="1371600"/>
            <a:ext cx="374904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0624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getLegalActions(main, pions, siège)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H="1">
            <a:off x="2286000" y="2057400"/>
            <a:ext cx="3794760" cy="54864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6" name="Box isLegal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isLegal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valide l'action reçue du client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057400"/>
            <a:ext cx="0" cy="54864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Box chooseAIAction"/>
          <p:cNvSpPr/>
          <p:nvPr/>
        </p:nvSpPr>
        <p:spPr>
          <a:xfrm>
            <a:off x="4343400" y="260604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chooseAIAction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l'IA tire parmi ces coups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057400"/>
            <a:ext cx="3794760" cy="54864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Box viewFor → legalMoves"/>
          <p:cNvSpPr/>
          <p:nvPr/>
        </p:nvSpPr>
        <p:spPr>
          <a:xfrm>
            <a:off x="8138160" y="260604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viewFor → legalMoves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le front affiche les coups possibles</a:t>
            </a:r>
            <a:endParaRPr lang="en-US" sz="1400" dirty="0"/>
          </a:p>
        </p:txBody>
      </p:sp>
      <p:sp>
        <p:nvSpPr>
          <p:cNvPr id="14" name="Code panel"/>
          <p:cNvSpPr/>
          <p:nvPr/>
        </p:nvSpPr>
        <p:spPr>
          <a:xfrm>
            <a:off x="548640" y="3703320"/>
            <a:ext cx="6583680" cy="2514600"/>
          </a:xfrm>
          <a:prstGeom prst="roundRect">
            <a:avLst>
              <a:gd name="adj" fmla="val 2909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721608"/>
            <a:ext cx="65471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216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engine/legalMoves.ts</a:t>
            </a:r>
            <a:endParaRPr lang="en-US" sz="1050" dirty="0"/>
          </a:p>
        </p:txBody>
      </p:sp>
      <p:sp>
        <p:nvSpPr>
          <p:cNvPr id="17" name="Code engine/legalMoves.ts"/>
          <p:cNvSpPr txBox="1"/>
          <p:nvPr/>
        </p:nvSpPr>
        <p:spPr>
          <a:xfrm>
            <a:off x="685800" y="41148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isLegal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pendingSplit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'pendingSplit'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getLegalActions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pendingSplit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749040"/>
            <a:ext cx="4251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ne réimplémente jamais les règles pour valider : l'action reçue doit être identique (mêmes ids) à un des coups générés. Le client ne peut donc rien inventer.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Blocages et captures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72414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engine/rules.ts</a:t>
            </a:r>
            <a:endParaRPr lang="en-US" sz="1050" dirty="0"/>
          </a:p>
        </p:txBody>
      </p:sp>
      <p:sp>
        <p:nvSpPr>
          <p:cNvPr id="6" name="Code engine/rules.ts"/>
          <p:cNvSpPr txBox="1"/>
          <p:nvPr/>
        </p:nvSpPr>
        <p:spPr>
          <a:xfrm>
            <a:off x="685800" y="1737360"/>
            <a:ext cx="5486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canMove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'board'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allCells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pathCells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//si ya un spawn sur son chemin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 le pion a le meme seat que le spawn -&gt; false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allCells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spawnSeat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getSeatOfStartCell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pawnAt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)?.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playerSeat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spawnSeat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Code panel"/>
          <p:cNvSpPr/>
          <p:nvPr/>
        </p:nvSpPr>
        <p:spPr>
          <a:xfrm>
            <a:off x="6537960" y="132588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56248" y="1344168"/>
            <a:ext cx="50840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1344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engine/apply.ts</a:t>
            </a:r>
            <a:endParaRPr lang="en-US" sz="1050" dirty="0"/>
          </a:p>
        </p:txBody>
      </p:sp>
      <p:sp>
        <p:nvSpPr>
          <p:cNvPr id="10" name="Code engine/apply.ts"/>
          <p:cNvSpPr txBox="1"/>
          <p:nvPr/>
        </p:nvSpPr>
        <p:spPr>
          <a:xfrm>
            <a:off x="6675120" y="17373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ActionResult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[]};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setPawnPosition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'spawn'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Card Blocage"/>
          <p:cNvSpPr/>
          <p:nvPr/>
        </p:nvSpPr>
        <p:spPr>
          <a:xfrm>
            <a:off x="548640" y="4800600"/>
            <a:ext cx="57607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wn"/>
          <p:cNvSpPr/>
          <p:nvPr/>
        </p:nvSpPr>
        <p:spPr>
          <a:xfrm>
            <a:off x="777240" y="50474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98348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Blocage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77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 pion posé sur sa propre case de sortie bloque le passage à tous les autres pions.</a:t>
            </a:r>
            <a:endParaRPr lang="en-US" sz="1400" dirty="0"/>
          </a:p>
        </p:txBody>
      </p:sp>
      <p:sp>
        <p:nvSpPr>
          <p:cNvPr id="15" name="Card Capture"/>
          <p:cNvSpPr/>
          <p:nvPr/>
        </p:nvSpPr>
        <p:spPr>
          <a:xfrm>
            <a:off x="6537960" y="3749040"/>
            <a:ext cx="51206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wn"/>
          <p:cNvSpPr/>
          <p:nvPr/>
        </p:nvSpPr>
        <p:spPr>
          <a:xfrm>
            <a:off x="6766560" y="39959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39319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526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Finir sur une case occupée renvoie l'occupant au spawn, même si c'est un de ses pions.</a:t>
            </a:r>
            <a:endParaRPr lang="en-US" sz="1400" dirty="0"/>
          </a:p>
        </p:txBody>
      </p:sp>
      <p:sp>
        <p:nvSpPr>
          <p:cNvPr id="19" name="Card Le 7"/>
          <p:cNvSpPr/>
          <p:nvPr/>
        </p:nvSpPr>
        <p:spPr>
          <a:xfrm>
            <a:off x="6537960" y="521208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wn"/>
          <p:cNvSpPr/>
          <p:nvPr/>
        </p:nvSpPr>
        <p:spPr>
          <a:xfrm>
            <a:off x="6766560" y="545896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539496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7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989320"/>
            <a:ext cx="4663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Capture tout sur son chemin (captureAlongPath).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7 : un coup découpé en morceaux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309360" cy="3108960"/>
          </a:xfrm>
          <a:prstGeom prst="roundRect">
            <a:avLst>
              <a:gd name="adj" fmla="val 2353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62727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engine/split.ts</a:t>
            </a:r>
            <a:endParaRPr lang="en-US" sz="1050" dirty="0"/>
          </a:p>
        </p:txBody>
      </p:sp>
      <p:sp>
        <p:nvSpPr>
          <p:cNvPr id="6" name="Code engine/split.ts"/>
          <p:cNvSpPr txBox="1"/>
          <p:nvPr/>
        </p:nvSpPr>
        <p:spPr>
          <a:xfrm>
            <a:off x="685800" y="1737360"/>
            <a:ext cx="6035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getSplitSteps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GameAction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pawnsOf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simulateSplitStep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'split'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7" name="Code panel"/>
          <p:cNvSpPr/>
          <p:nvPr/>
        </p:nvSpPr>
        <p:spPr>
          <a:xfrm>
            <a:off x="548640" y="4572000"/>
            <a:ext cx="6309360" cy="1645920"/>
          </a:xfrm>
          <a:prstGeom prst="roundRect">
            <a:avLst>
              <a:gd name="adj" fmla="val 4444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4590288"/>
            <a:ext cx="62727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59028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engine/state.ts</a:t>
            </a:r>
            <a:endParaRPr lang="en-US" sz="1050" dirty="0"/>
          </a:p>
        </p:txBody>
      </p:sp>
      <p:sp>
        <p:nvSpPr>
          <p:cNvPr id="10" name="Code engine/state.ts"/>
          <p:cNvSpPr txBox="1"/>
          <p:nvPr/>
        </p:nvSpPr>
        <p:spPr>
          <a:xfrm>
            <a:off x="685800" y="498348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canGoOn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getSplitSteps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canGoOn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{...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pendingSplit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{...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pendingSplit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Pawn"/>
          <p:cNvSpPr/>
          <p:nvPr/>
        </p:nvSpPr>
        <p:spPr>
          <a:xfrm>
            <a:off x="717804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Choisir un pion et un nombre de pas (1..restant)</a:t>
            </a:r>
            <a:endParaRPr lang="en-US" sz="1400" dirty="0"/>
          </a:p>
        </p:txBody>
      </p:sp>
      <p:sp>
        <p:nvSpPr>
          <p:cNvPr id="14" name="Pawn"/>
          <p:cNvSpPr/>
          <p:nvPr/>
        </p:nvSpPr>
        <p:spPr>
          <a:xfrm>
            <a:off x="7178040" y="244144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350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Émettre { type: 'split', steps }</a:t>
            </a:r>
            <a:endParaRPr lang="en-US" sz="1400" dirty="0"/>
          </a:p>
        </p:txBody>
      </p:sp>
      <p:sp>
        <p:nvSpPr>
          <p:cNvPr id="17" name="Pawn"/>
          <p:cNvSpPr/>
          <p:nvPr/>
        </p:nvSpPr>
        <p:spPr>
          <a:xfrm>
            <a:off x="7178040" y="341985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3284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serveur simule le morceau (simulateSplitStep)</a:t>
            </a:r>
            <a:endParaRPr lang="en-US" sz="1400" dirty="0"/>
          </a:p>
        </p:txBody>
      </p:sp>
      <p:sp>
        <p:nvSpPr>
          <p:cNvPr id="20" name="Pawn"/>
          <p:cNvSpPr/>
          <p:nvPr/>
        </p:nvSpPr>
        <p:spPr>
          <a:xfrm>
            <a:off x="7178040" y="439826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3068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pendingSplit.left diminue, même joueur</a:t>
            </a:r>
            <a:endParaRPr lang="en-US" sz="1400" dirty="0"/>
          </a:p>
        </p:txBody>
      </p:sp>
      <p:sp>
        <p:nvSpPr>
          <p:cNvPr id="23" name="Pawn"/>
          <p:cNvSpPr/>
          <p:nvPr/>
        </p:nvSpPr>
        <p:spPr>
          <a:xfrm>
            <a:off x="7178040" y="5376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5285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Plus rien de jouable : pas restants perdus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L'IA : un coup légal, joué par une boucle côté serveur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583680" cy="1783080"/>
          </a:xfrm>
          <a:prstGeom prst="roundRect">
            <a:avLst>
              <a:gd name="adj" fmla="val 4103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65471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engine/AI.ts</a:t>
            </a:r>
            <a:endParaRPr lang="en-US" sz="1050" dirty="0"/>
          </a:p>
        </p:txBody>
      </p:sp>
      <p:sp>
        <p:nvSpPr>
          <p:cNvPr id="6" name="Code engine/AI.ts"/>
          <p:cNvSpPr txBox="1"/>
          <p:nvPr/>
        </p:nvSpPr>
        <p:spPr>
          <a:xfrm>
            <a:off x="685800" y="173736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chooseAIAction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getLegalActions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pendingSplit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*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)];</a:t>
            </a:r>
            <a:endParaRPr lang="en-US" sz="1050" dirty="0"/>
          </a:p>
        </p:txBody>
      </p:sp>
      <p:sp>
        <p:nvSpPr>
          <p:cNvPr id="7" name="Code panel"/>
          <p:cNvSpPr/>
          <p:nvPr/>
        </p:nvSpPr>
        <p:spPr>
          <a:xfrm>
            <a:off x="548640" y="3246120"/>
            <a:ext cx="6583680" cy="2971800"/>
          </a:xfrm>
          <a:prstGeom prst="roundRect">
            <a:avLst>
              <a:gd name="adj" fmla="val 2462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3264408"/>
            <a:ext cx="654710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2644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backend/src/game/game.service.ts</a:t>
            </a:r>
            <a:endParaRPr lang="en-US" sz="1050" dirty="0"/>
          </a:p>
        </p:txBody>
      </p:sp>
      <p:sp>
        <p:nvSpPr>
          <p:cNvPr id="10" name="Code backend/src/game/game.service.ts"/>
          <p:cNvSpPr txBox="1"/>
          <p:nvPr/>
        </p:nvSpPr>
        <p:spPr>
          <a:xfrm>
            <a:off x="685800" y="365760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botToPlay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BOT_MIN_DELAY_MS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*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BOT_MAX_DELAY_MS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BOT_MIN_DELAY_MS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botToPlay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chooseAIAction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371600"/>
            <a:ext cx="4251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Délai humain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 à 3 s aléatoires avant chaque coup, le même rythme pour tous les joueurs.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Un commit par coup 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les joueurs voient chaque coup des bots.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Une seule boucle par partie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(Set botLoops) : deux bots ne jouent jamais le même tour.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La partie est relue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après chaque pause : un joueur a pu revenir ou partir.</a:t>
            </a:r>
            <a:endParaRPr lang="en-US" sz="1400" dirty="0"/>
          </a:p>
        </p:txBody>
      </p:sp>
      <p:sp>
        <p:nvSpPr>
          <p:cNvPr id="12" name="Box À savoir pour la soutenance : "/>
          <p:cNvSpPr/>
          <p:nvPr/>
        </p:nvSpPr>
        <p:spPr>
          <a:xfrm>
            <a:off x="7406640" y="4572000"/>
            <a:ext cx="4251960" cy="1645920"/>
          </a:xfrm>
          <a:prstGeom prst="roundRect">
            <a:avLst>
              <a:gd name="adj" fmla="val 4444"/>
            </a:avLst>
          </a:prstGeom>
          <a:solidFill>
            <a:srgbClr val="FBEDE8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4572000"/>
            <a:ext cx="4251960" cy="1645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À savoir pour la soutenance : l'IA choisit au hasard parmi les coups légaux. Le module « AI Opponent » exige une IA qui peut gagner et qui imite un humain.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wn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Temps réel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socket.io derrière nginx, sur /ws/socket.io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trajet d'un clic, du navigateur aux 4 joueurs</a:t>
            </a:r>
            <a:endParaRPr lang="en-US" sz="3000" dirty="0"/>
          </a:p>
        </p:txBody>
      </p:sp>
      <p:sp>
        <p:nvSpPr>
          <p:cNvPr id="3" name="Box Front"/>
          <p:cNvSpPr/>
          <p:nvPr/>
        </p:nvSpPr>
        <p:spPr>
          <a:xfrm>
            <a:off x="320040" y="12801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Front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1737360"/>
            <a:ext cx="0" cy="452628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6" name="Box Gateway"/>
          <p:cNvSpPr/>
          <p:nvPr/>
        </p:nvSpPr>
        <p:spPr>
          <a:xfrm>
            <a:off x="2697480" y="12801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Gateway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737360"/>
            <a:ext cx="0" cy="452628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9" name="Box Service"/>
          <p:cNvSpPr/>
          <p:nvPr/>
        </p:nvSpPr>
        <p:spPr>
          <a:xfrm>
            <a:off x="5074920" y="12801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737360"/>
            <a:ext cx="0" cy="452628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12" name="Box Engine"/>
          <p:cNvSpPr/>
          <p:nvPr/>
        </p:nvSpPr>
        <p:spPr>
          <a:xfrm>
            <a:off x="7452360" y="12801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737360"/>
            <a:ext cx="0" cy="452628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15" name="Box Autres clients"/>
          <p:cNvSpPr/>
          <p:nvPr/>
        </p:nvSpPr>
        <p:spPr>
          <a:xfrm>
            <a:off x="9829800" y="128016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98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Autres clients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744200" y="1737360"/>
            <a:ext cx="0" cy="452628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234440" y="2103120"/>
            <a:ext cx="23774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32588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emit('action')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2633472"/>
            <a:ext cx="23774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703320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playAction : son tour 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3163824"/>
            <a:ext cx="23774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080760" y="28712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playTurn(...)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5989320" y="3694176"/>
            <a:ext cx="23774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08076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game, event } ou null</a:t>
            </a:r>
            <a:endParaRPr lang="en-US" sz="1050" dirty="0"/>
          </a:p>
        </p:txBody>
      </p:sp>
      <p:sp>
        <p:nvSpPr>
          <p:cNvPr id="26" name="Box commit : Map.set + broadcast"/>
          <p:cNvSpPr/>
          <p:nvPr/>
        </p:nvSpPr>
        <p:spPr>
          <a:xfrm>
            <a:off x="4937760" y="3977640"/>
            <a:ext cx="210312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3977640"/>
            <a:ext cx="21031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: Map.set + broadcast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4754880"/>
            <a:ext cx="4754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080760" y="4462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emit('state', viewFor(...))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flipH="1">
            <a:off x="1234440" y="5285232"/>
            <a:ext cx="47548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325880" y="4992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{ ok } / { error }</a:t>
            </a:r>
            <a:endParaRPr lang="en-US" sz="1050" dirty="0"/>
          </a:p>
        </p:txBody>
      </p:sp>
      <p:sp>
        <p:nvSpPr>
          <p:cNvPr id="32" name="Box runBots : un coup / 1-3 s"/>
          <p:cNvSpPr/>
          <p:nvPr/>
        </p:nvSpPr>
        <p:spPr>
          <a:xfrm>
            <a:off x="4937760" y="5568696"/>
            <a:ext cx="210312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5568696"/>
            <a:ext cx="21031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runBots : un coup / 1-3 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GameGateway : authentifie le socket, diffuse l'état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766560" cy="4892040"/>
          </a:xfrm>
          <a:prstGeom prst="roundRect">
            <a:avLst>
              <a:gd name="adj" fmla="val 1495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67299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backend/src/game/game.gateway.ts</a:t>
            </a:r>
            <a:endParaRPr lang="en-US" sz="1050" dirty="0"/>
          </a:p>
        </p:txBody>
      </p:sp>
      <p:sp>
        <p:nvSpPr>
          <p:cNvPr id="6" name="Code backend/src/game/game.gateway.ts"/>
          <p:cNvSpPr txBox="1"/>
          <p:nvPr/>
        </p:nvSpPr>
        <p:spPr>
          <a:xfrm>
            <a:off x="685800" y="173736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@WebSocketGateway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'/ws/socket.io'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afterInit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setBroadcaster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les bots n'ont pas de navigateur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viewFor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`user-${player.userId}`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'state'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handleConnection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readCookie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'jwt'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une room par user : tous ses onglets recoivent l'etat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`user-${payload.sub}`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userConnected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7" name="Card Une room par user"/>
          <p:cNvSpPr/>
          <p:nvPr/>
        </p:nvSpPr>
        <p:spPr>
          <a:xfrm>
            <a:off x="7589520" y="1325880"/>
            <a:ext cx="40690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wn"/>
          <p:cNvSpPr/>
          <p:nvPr/>
        </p:nvSpPr>
        <p:spPr>
          <a:xfrm>
            <a:off x="7818120" y="15727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0" y="150876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room par user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user-&lt;id&gt; : tous les onglets d'un joueur reçoivent l'état.</a:t>
            </a:r>
            <a:endParaRPr lang="en-US" sz="1400" dirty="0"/>
          </a:p>
        </p:txBody>
      </p:sp>
      <p:sp>
        <p:nvSpPr>
          <p:cNvPr id="11" name="Card Service découplé"/>
          <p:cNvSpPr/>
          <p:nvPr/>
        </p:nvSpPr>
        <p:spPr>
          <a:xfrm>
            <a:off x="7589520" y="3017520"/>
            <a:ext cx="40690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wn"/>
          <p:cNvSpPr/>
          <p:nvPr/>
        </p:nvSpPr>
        <p:spPr>
          <a:xfrm>
            <a:off x="7818120" y="32644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320040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découplé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GameService ne connaît pas socket.io : la gateway lui injecte une fonction broadcast.</a:t>
            </a:r>
            <a:endParaRPr lang="en-US" sz="1400" dirty="0"/>
          </a:p>
        </p:txBody>
      </p:sp>
      <p:sp>
        <p:nvSpPr>
          <p:cNvPr id="15" name="Card Jeton expiré ?"/>
          <p:cNvSpPr/>
          <p:nvPr/>
        </p:nvSpPr>
        <p:spPr>
          <a:xfrm>
            <a:off x="7589520" y="4754880"/>
            <a:ext cx="40690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wn"/>
          <p:cNvSpPr/>
          <p:nvPr/>
        </p:nvSpPr>
        <p:spPr>
          <a:xfrm>
            <a:off x="7818120" y="500176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493776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Jeton expiré 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55321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Socket coupé ; le front appelle /auth/refresh puis se reconnecte.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commit + viewFor : un état, quatre vues filtrées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5852160" cy="1645920"/>
          </a:xfrm>
          <a:prstGeom prst="roundRect">
            <a:avLst>
              <a:gd name="adj" fmla="val 4444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8155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game.service.ts</a:t>
            </a:r>
            <a:endParaRPr lang="en-US" sz="1050" dirty="0"/>
          </a:p>
        </p:txBody>
      </p:sp>
      <p:sp>
        <p:nvSpPr>
          <p:cNvPr id="6" name="Code game.service.ts"/>
          <p:cNvSpPr txBox="1"/>
          <p:nvPr/>
        </p:nvSpPr>
        <p:spPr>
          <a:xfrm>
            <a:off x="685800" y="173736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GameTypes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GameTypes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GameEvent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?.(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7" name="Code panel"/>
          <p:cNvSpPr/>
          <p:nvPr/>
        </p:nvSpPr>
        <p:spPr>
          <a:xfrm>
            <a:off x="548640" y="3108960"/>
            <a:ext cx="5852160" cy="3108960"/>
          </a:xfrm>
          <a:prstGeom prst="roundRect">
            <a:avLst>
              <a:gd name="adj" fmla="val 2353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3127248"/>
            <a:ext cx="58155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272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engine/view.ts</a:t>
            </a:r>
            <a:endParaRPr lang="en-US" sz="1050" dirty="0"/>
          </a:p>
        </p:txBody>
      </p:sp>
      <p:sp>
        <p:nvSpPr>
          <p:cNvPr id="10" name="Code engine/view.ts"/>
          <p:cNvSpPr txBox="1"/>
          <p:nvPr/>
        </p:nvSpPr>
        <p:spPr>
          <a:xfrm>
            <a:off x="685800" y="3520440"/>
            <a:ext cx="5577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partie vue depuis un siege : on cache la pioche et la main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 autres.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viewFor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GameView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drawPile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myHand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(({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...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=&gt; ({ ...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drawPileCount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drawPile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legalMovesFor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0" y="2011680"/>
            <a:ext cx="0" cy="45720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2811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viewFor(game, siège) × 4</a:t>
            </a:r>
            <a:endParaRPr lang="en-US" sz="1100" dirty="0"/>
          </a:p>
        </p:txBody>
      </p:sp>
      <p:sp>
        <p:nvSpPr>
          <p:cNvPr id="13" name="Box Game (serveur)"/>
          <p:cNvSpPr/>
          <p:nvPr/>
        </p:nvSpPr>
        <p:spPr>
          <a:xfrm>
            <a:off x="7680960" y="1371600"/>
            <a:ext cx="29260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1371600"/>
            <a:ext cx="29260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Game (serveur)</a:t>
            </a:r>
            <a:endParaRPr lang="en-US" sz="1500" dirty="0"/>
          </a:p>
        </p:txBody>
      </p:sp>
      <p:sp>
        <p:nvSpPr>
          <p:cNvPr id="15" name="Box Siège 0 : sa main · handCount "/>
          <p:cNvSpPr/>
          <p:nvPr/>
        </p:nvSpPr>
        <p:spPr>
          <a:xfrm>
            <a:off x="6720840" y="2514600"/>
            <a:ext cx="493776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2514600"/>
            <a:ext cx="493776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Siège 0 : sa main · handCount des autres</a:t>
            </a:r>
            <a:endParaRPr lang="en-US" sz="1300" dirty="0"/>
          </a:p>
        </p:txBody>
      </p:sp>
      <p:sp>
        <p:nvSpPr>
          <p:cNvPr id="17" name="Box Siège 1 : sa main · handCount "/>
          <p:cNvSpPr/>
          <p:nvPr/>
        </p:nvSpPr>
        <p:spPr>
          <a:xfrm>
            <a:off x="6720840" y="3383280"/>
            <a:ext cx="493776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3383280"/>
            <a:ext cx="493776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Siège 1 : sa main · handCount des autres</a:t>
            </a:r>
            <a:endParaRPr lang="en-US" sz="1300" dirty="0"/>
          </a:p>
        </p:txBody>
      </p:sp>
      <p:sp>
        <p:nvSpPr>
          <p:cNvPr id="19" name="Box Siège 2 : sa main · handCount "/>
          <p:cNvSpPr/>
          <p:nvPr/>
        </p:nvSpPr>
        <p:spPr>
          <a:xfrm>
            <a:off x="6720840" y="4251960"/>
            <a:ext cx="4937760" cy="594360"/>
          </a:xfrm>
          <a:prstGeom prst="roundRect">
            <a:avLst>
              <a:gd name="adj" fmla="val 1230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251960"/>
            <a:ext cx="493776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Siège 2 : sa main · handCount des autres</a:t>
            </a:r>
            <a:endParaRPr lang="en-US" sz="1300" dirty="0"/>
          </a:p>
        </p:txBody>
      </p:sp>
      <p:sp>
        <p:nvSpPr>
          <p:cNvPr id="21" name="Box Siège 3 : sa main · handCount "/>
          <p:cNvSpPr/>
          <p:nvPr/>
        </p:nvSpPr>
        <p:spPr>
          <a:xfrm>
            <a:off x="6720840" y="5120640"/>
            <a:ext cx="493776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5120640"/>
            <a:ext cx="493776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Siège 3 : sa main · handCount des autres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6035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D6B7A"/>
                </a:solidFill>
              </a:rPr>
              <a:t>La pioche et les mains adverses ne quittent jamais le serveur : impossible de tricher en lisant le réseau.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protocole WebSocket complet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393192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Sens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Contenu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Quand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serveur → client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{ state: GameView, event: GameEvent | null }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À chaque commit, et en réponse à sync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serveur → client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no-game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sync alors que le joueur n'a pas de partie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client → serveur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sync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Arrivée sur une page de jeu, reconnexion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client → serveur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{ gameId, action } + ack { ok } | { error }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 joueur joue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serveur → client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friends-changed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 (namespace /friends)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Demande, acceptation, suppression, connexion d'un ami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state est la vérité 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 front affiche exactement ce qu'il reçoit.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event n'est qu'un indice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pour animer ; il vaut null quand rien n'a été joué (sync).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Déconnexion : délai de grâce, puis l'IA prend le relais</a:t>
            </a:r>
            <a:endParaRPr lang="en-US" sz="3000" dirty="0"/>
          </a:p>
        </p:txBody>
      </p:sp>
      <p:sp>
        <p:nvSpPr>
          <p:cNvPr id="3" name="Box Dernier onglet fermé"/>
          <p:cNvSpPr/>
          <p:nvPr/>
        </p:nvSpPr>
        <p:spPr>
          <a:xfrm>
            <a:off x="548640" y="137160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Dernier onglet fermé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handleDisconnect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874520"/>
            <a:ext cx="256032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6" name="Box Délai de grâce"/>
          <p:cNvSpPr/>
          <p:nvPr/>
        </p:nvSpPr>
        <p:spPr>
          <a:xfrm>
            <a:off x="2816352" y="137160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16352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Délai de grâce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un refresh n'est pas un départ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28032" y="1874520"/>
            <a:ext cx="256032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Box isConnected = false"/>
          <p:cNvSpPr/>
          <p:nvPr/>
        </p:nvSpPr>
        <p:spPr>
          <a:xfrm>
            <a:off x="5084064" y="137160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4064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isConnected = false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commit → les autres le voient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95744" y="1874520"/>
            <a:ext cx="256032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Box L'IA joue pour lui"/>
          <p:cNvSpPr/>
          <p:nvPr/>
        </p:nvSpPr>
        <p:spPr>
          <a:xfrm>
            <a:off x="7351776" y="137160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51776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L'IA joue pour lui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isBotControlled(player)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63456" y="1874520"/>
            <a:ext cx="256032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5" name="Box Il revient"/>
          <p:cNvSpPr/>
          <p:nvPr/>
        </p:nvSpPr>
        <p:spPr>
          <a:xfrm>
            <a:off x="9619488" y="1371600"/>
            <a:ext cx="201168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19488" y="1371600"/>
            <a:ext cx="20116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Il revient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connexion → sync → il reprend</a:t>
            </a:r>
            <a:endParaRPr lang="en-US" sz="1300" dirty="0"/>
          </a:p>
        </p:txBody>
      </p:sp>
      <p:sp>
        <p:nvSpPr>
          <p:cNvPr id="17" name="Code panel"/>
          <p:cNvSpPr/>
          <p:nvPr/>
        </p:nvSpPr>
        <p:spPr>
          <a:xfrm>
            <a:off x="548640" y="2651760"/>
            <a:ext cx="6675120" cy="3566160"/>
          </a:xfrm>
          <a:prstGeom prst="roundRect">
            <a:avLst>
              <a:gd name="adj" fmla="val 2051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70048"/>
            <a:ext cx="663854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67004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backend/src/game/game.service.ts</a:t>
            </a:r>
            <a:endParaRPr lang="en-US" sz="1050" dirty="0"/>
          </a:p>
        </p:txBody>
      </p:sp>
      <p:sp>
        <p:nvSpPr>
          <p:cNvPr id="20" name="Code backend/src/game/game.service.ts"/>
          <p:cNvSpPr txBox="1"/>
          <p:nvPr/>
        </p:nvSpPr>
        <p:spPr>
          <a:xfrm>
            <a:off x="685800" y="3063240"/>
            <a:ext cx="6400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userDisconnected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disconnectTimers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disconnectTimers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disconnectTimers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setConnected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RECONNECT_GRACE_MS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plus aucun humain pour regarder : personne ne reviendra, on arrete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!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GameTypes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isBotControlled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abandonGame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 c'etait son tour, l'IA le joue pour lui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isConnected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runBots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1" name="Card Plus aucun humain ?"/>
          <p:cNvSpPr/>
          <p:nvPr/>
        </p:nvSpPr>
        <p:spPr>
          <a:xfrm>
            <a:off x="7498080" y="2651760"/>
            <a:ext cx="41605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Pawn"/>
          <p:cNvSpPr/>
          <p:nvPr/>
        </p:nvSpPr>
        <p:spPr>
          <a:xfrm>
            <a:off x="7726680" y="28986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28346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aucun humain ?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34290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abandonGame : phase finished, winnerSeat null. Différent d'une victoire.</a:t>
            </a:r>
            <a:endParaRPr lang="en-US" sz="1400" dirty="0"/>
          </a:p>
        </p:txBody>
      </p:sp>
      <p:sp>
        <p:nvSpPr>
          <p:cNvPr id="25" name="Card Multi-onglets"/>
          <p:cNvSpPr/>
          <p:nvPr/>
        </p:nvSpPr>
        <p:spPr>
          <a:xfrm>
            <a:off x="7498080" y="4480560"/>
            <a:ext cx="41605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wn"/>
          <p:cNvSpPr/>
          <p:nvPr/>
        </p:nvSpPr>
        <p:spPr>
          <a:xfrm>
            <a:off x="7726680" y="47274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6634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Multi-onglets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52578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gateway ne prévient le service que si plus aucun socket du user n'est dans sa room.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wn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5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Frontend Next.js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Pages Router, hooks, plateau animé, design system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pages et le parcours d'un joueur</a:t>
            </a:r>
            <a:endParaRPr lang="en-US" sz="3000" dirty="0"/>
          </a:p>
        </p:txBody>
      </p:sp>
      <p:sp>
        <p:nvSpPr>
          <p:cNvPr id="3" name="Box /login"/>
          <p:cNvSpPr/>
          <p:nvPr/>
        </p:nvSpPr>
        <p:spPr>
          <a:xfrm>
            <a:off x="548640" y="20116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300" dirty="0"/>
          </a:p>
        </p:txBody>
      </p:sp>
      <p:sp>
        <p:nvSpPr>
          <p:cNvPr id="5" name="Box /register"/>
          <p:cNvSpPr/>
          <p:nvPr/>
        </p:nvSpPr>
        <p:spPr>
          <a:xfrm>
            <a:off x="548640" y="301752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2560320"/>
            <a:ext cx="0" cy="45720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headEnd type="triangle"/>
            <a:tailEnd type="triangle"/>
          </a:ln>
        </p:spPr>
      </p:sp>
      <p:sp>
        <p:nvSpPr>
          <p:cNvPr id="8" name="Box /menu"/>
          <p:cNvSpPr/>
          <p:nvPr/>
        </p:nvSpPr>
        <p:spPr>
          <a:xfrm>
            <a:off x="3017520" y="20116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/menu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2286000"/>
            <a:ext cx="73152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1" name="Box POST /api/game"/>
          <p:cNvSpPr/>
          <p:nvPr/>
        </p:nvSpPr>
        <p:spPr>
          <a:xfrm>
            <a:off x="5577840" y="146304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/api/game</a:t>
            </a:r>
            <a:endParaRPr lang="en-US" sz="1300" dirty="0"/>
          </a:p>
        </p:txBody>
      </p:sp>
      <p:sp>
        <p:nvSpPr>
          <p:cNvPr id="13" name="Box /join-game"/>
          <p:cNvSpPr/>
          <p:nvPr/>
        </p:nvSpPr>
        <p:spPr>
          <a:xfrm>
            <a:off x="5577840" y="256032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/join-game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4754880" y="1737360"/>
            <a:ext cx="822960" cy="41148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2423160"/>
            <a:ext cx="822960" cy="41148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7" name="Box /lobby"/>
          <p:cNvSpPr/>
          <p:nvPr/>
        </p:nvSpPr>
        <p:spPr>
          <a:xfrm>
            <a:off x="8229600" y="201168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/lobby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457200" cy="41148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315200" y="2423160"/>
            <a:ext cx="914400" cy="41148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21" name="Box /play"/>
          <p:cNvSpPr/>
          <p:nvPr/>
        </p:nvSpPr>
        <p:spPr>
          <a:xfrm>
            <a:off x="10058400" y="2011680"/>
            <a:ext cx="16002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0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66960" y="2286000"/>
            <a:ext cx="9144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24" name="Box /profile"/>
          <p:cNvSpPr/>
          <p:nvPr/>
        </p:nvSpPr>
        <p:spPr>
          <a:xfrm>
            <a:off x="3017520" y="347472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752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</a:t>
            </a:r>
            <a:endParaRPr lang="en-US" sz="1300" dirty="0"/>
          </a:p>
        </p:txBody>
      </p:sp>
      <p:sp>
        <p:nvSpPr>
          <p:cNvPr id="26" name="Box /friends"/>
          <p:cNvSpPr/>
          <p:nvPr/>
        </p:nvSpPr>
        <p:spPr>
          <a:xfrm>
            <a:off x="301752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/friends</a:t>
            </a:r>
            <a:endParaRPr lang="en-US" sz="1300" dirty="0"/>
          </a:p>
        </p:txBody>
      </p:sp>
      <p:sp>
        <p:nvSpPr>
          <p:cNvPr id="28" name="Box /rules"/>
          <p:cNvSpPr/>
          <p:nvPr/>
        </p:nvSpPr>
        <p:spPr>
          <a:xfrm>
            <a:off x="3017520" y="493776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/rules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86200" y="2560320"/>
            <a:ext cx="0" cy="91440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31" name="Box /privacy"/>
          <p:cNvSpPr/>
          <p:nvPr/>
        </p:nvSpPr>
        <p:spPr>
          <a:xfrm>
            <a:off x="548640" y="457200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57200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/privacy</a:t>
            </a:r>
            <a:endParaRPr lang="en-US" sz="1300" dirty="0"/>
          </a:p>
        </p:txBody>
      </p:sp>
      <p:sp>
        <p:nvSpPr>
          <p:cNvPr id="33" name="Box /terms"/>
          <p:cNvSpPr/>
          <p:nvPr/>
        </p:nvSpPr>
        <p:spPr>
          <a:xfrm>
            <a:off x="548640" y="5303520"/>
            <a:ext cx="17373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30352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/terms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43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D6B7A"/>
                </a:solidFill>
              </a:rPr>
              <a:t>liens du footer, sur toutes les pages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577840" y="3566160"/>
            <a:ext cx="6080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Pages Router 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un fichier de src/pages = une route. / redirige vers /login.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Lobby en temps réel 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useGame reçoit chaque join ; dès que l'hôte lance, tout le monde part sur /play.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Responsive 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classes md: de Tailwind, et le plateau est le plus grand carré qui tient (container queries, min(100cqw, 100cqh)).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useGame : un socket partagé, l'état poussé par le serveur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44982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frontend/src/game/socket.ts</a:t>
            </a:r>
            <a:endParaRPr lang="en-US" sz="1050" dirty="0"/>
          </a:p>
        </p:txBody>
      </p:sp>
      <p:sp>
        <p:nvSpPr>
          <p:cNvPr id="6" name="Code frontend/src/game/socket.ts"/>
          <p:cNvSpPr txBox="1"/>
          <p:nvPr/>
        </p:nvSpPr>
        <p:spPr>
          <a:xfrm>
            <a:off x="685800" y="1737360"/>
            <a:ext cx="5212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"/ws/socket.io"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"disconnect"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"io server disconnect"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isRefreshed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refreshAuth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isRefreshed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Code panel"/>
          <p:cNvSpPr/>
          <p:nvPr/>
        </p:nvSpPr>
        <p:spPr>
          <a:xfrm>
            <a:off x="6263640" y="13258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1928" y="1344168"/>
            <a:ext cx="535838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344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frontend/src/game/useGame.ts</a:t>
            </a:r>
            <a:endParaRPr lang="en-US" sz="1050" dirty="0"/>
          </a:p>
        </p:txBody>
      </p:sp>
      <p:sp>
        <p:nvSpPr>
          <p:cNvPr id="10" name="Code frontend/src/game/useGame.ts"/>
          <p:cNvSpPr txBox="1"/>
          <p:nvPr/>
        </p:nvSpPr>
        <p:spPr>
          <a:xfrm>
            <a:off x="6400800" y="1737360"/>
            <a:ext cx="5120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setLastEvent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setHasNoGame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"state"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handleState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"no-game"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handleNoGame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handleConnect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handleConnect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Card Singleton"/>
          <p:cNvSpPr/>
          <p:nvPr/>
        </p:nvSpPr>
        <p:spPr>
          <a:xfrm>
            <a:off x="548640" y="470916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wn"/>
          <p:cNvSpPr/>
          <p:nvPr/>
        </p:nvSpPr>
        <p:spPr>
          <a:xfrm>
            <a:off x="777240" y="49560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8920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86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Créé au premier usage seulement : Next rend aussi les pages côté serveur, sans navigateur.</a:t>
            </a:r>
            <a:endParaRPr lang="en-US" sz="1300" dirty="0"/>
          </a:p>
        </p:txBody>
      </p:sp>
      <p:sp>
        <p:nvSpPr>
          <p:cNvPr id="15" name="Card Resynchro"/>
          <p:cNvSpPr/>
          <p:nvPr/>
        </p:nvSpPr>
        <p:spPr>
          <a:xfrm>
            <a:off x="4297680" y="470916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wn"/>
          <p:cNvSpPr/>
          <p:nvPr/>
        </p:nvSpPr>
        <p:spPr>
          <a:xfrm>
            <a:off x="4526280" y="49560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48920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Resynchro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5486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À chaque (re)connexion, le client émet sync et récupère l'état complet.</a:t>
            </a:r>
            <a:endParaRPr lang="en-US" sz="1300" dirty="0"/>
          </a:p>
        </p:txBody>
      </p:sp>
      <p:sp>
        <p:nvSpPr>
          <p:cNvPr id="19" name="Card Pas de calcul"/>
          <p:cNvSpPr/>
          <p:nvPr/>
        </p:nvSpPr>
        <p:spPr>
          <a:xfrm>
            <a:off x="8046720" y="4709160"/>
            <a:ext cx="35661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wn"/>
          <p:cNvSpPr/>
          <p:nvPr/>
        </p:nvSpPr>
        <p:spPr>
          <a:xfrm>
            <a:off x="8275320" y="49560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0" y="489204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calcul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486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setGame(message.state) : le front affiche, il ne déduit rien.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useTurnChoice : carte → pion → case, sans connaître les règles</a:t>
            </a:r>
            <a:endParaRPr lang="en-US" sz="3000" dirty="0"/>
          </a:p>
        </p:txBody>
      </p:sp>
      <p:sp>
        <p:nvSpPr>
          <p:cNvPr id="3" name="Box 1. Carte"/>
          <p:cNvSpPr/>
          <p:nvPr/>
        </p:nvSpPr>
        <p:spPr>
          <a:xfrm>
            <a:off x="548640" y="137160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5146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1. Carte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filtre legalMoves par cardId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63240" y="1801368"/>
            <a:ext cx="32004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6" name="Box 2. Pion"/>
          <p:cNvSpPr/>
          <p:nvPr/>
        </p:nvSpPr>
        <p:spPr>
          <a:xfrm>
            <a:off x="3383280" y="137160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5146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 Pion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pions présents dans ces coups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97880" y="1801368"/>
            <a:ext cx="32004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9" name="Box 3. Case"/>
          <p:cNvSpPr/>
          <p:nvPr/>
        </p:nvSpPr>
        <p:spPr>
          <a:xfrm>
            <a:off x="6217920" y="137160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5146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 Case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seulement s'il y a plusieurs destinations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32520" y="1801368"/>
            <a:ext cx="320040" cy="0"/>
          </a:xfrm>
          <a:prstGeom prst="line">
            <a:avLst/>
          </a:prstGeom>
          <a:noFill/>
          <a:ln w="19050">
            <a:solidFill>
              <a:srgbClr val="5D6B7A"/>
            </a:solidFill>
            <a:prstDash val="solid"/>
            <a:tailEnd type="triangle"/>
          </a:ln>
        </p:spPr>
      </p:sp>
      <p:sp>
        <p:nvSpPr>
          <p:cNvPr id="12" name="Box emit"/>
          <p:cNvSpPr/>
          <p:nvPr/>
        </p:nvSpPr>
        <p:spPr>
          <a:xfrm>
            <a:off x="9052560" y="137160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371600"/>
            <a:ext cx="25146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emit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send(action)</a:t>
            </a:r>
            <a:endParaRPr lang="en-US" sz="1500" dirty="0"/>
          </a:p>
        </p:txBody>
      </p:sp>
      <p:sp>
        <p:nvSpPr>
          <p:cNvPr id="14" name="Code panel"/>
          <p:cNvSpPr/>
          <p:nvPr/>
        </p:nvSpPr>
        <p:spPr>
          <a:xfrm>
            <a:off x="548640" y="2468880"/>
            <a:ext cx="6858000" cy="3749040"/>
          </a:xfrm>
          <a:prstGeom prst="roundRect">
            <a:avLst>
              <a:gd name="adj" fmla="val 1951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487168"/>
            <a:ext cx="682142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4871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frontend/src/game/useTurnChoice.ts</a:t>
            </a:r>
            <a:endParaRPr lang="en-US" sz="1050" dirty="0"/>
          </a:p>
        </p:txBody>
      </p:sp>
      <p:sp>
        <p:nvSpPr>
          <p:cNvPr id="17" name="Code frontend/src/game/useTurnChoice.ts"/>
          <p:cNvSpPr txBox="1"/>
          <p:nvPr/>
        </p:nvSpPr>
        <p:spPr>
          <a:xfrm>
            <a:off x="685800" y="2880360"/>
            <a:ext cx="6583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handleCardClick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clickedCardId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clickedCardId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selectedCardId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resetChoice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card that can do nothing else is discarded right away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clickedCardId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"discard"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one place to go: no need to ask where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pawnIdsOf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===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isJack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pawnMoves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51460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Tout vient de game.legalMoves, calculé par le serveur pour ce joueur.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seul coup possible ? Il part directement, sans clic de plus.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Valet : premier pion, puis le pion avec lequel l'échanger.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erreur du serveur (ack { error }) s'affiche sous les contrôles.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Chaque joueur voit le plateau depuis sa place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9984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frontend/src/components/game/Board.tsx</a:t>
            </a:r>
            <a:endParaRPr lang="en-US" sz="1050" dirty="0"/>
          </a:p>
        </p:txBody>
      </p:sp>
      <p:sp>
        <p:nvSpPr>
          <p:cNvPr id="6" name="Code frontend/src/components/game/Board.tsx"/>
          <p:cNvSpPr txBox="1"/>
          <p:nvPr/>
        </p:nvSpPr>
        <p:spPr>
          <a:xfrm>
            <a:off x="685800" y="173736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clockwise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bring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`seat`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rotationForSeat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BOTTOM_ARM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armOfSeat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TEAMS_NUMBER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TEAMS_NUMBER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548640" y="3291840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3310128"/>
            <a:ext cx="59984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101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frontend/src/pages/play.tsx</a:t>
            </a:r>
            <a:endParaRPr lang="en-US" sz="1050" dirty="0"/>
          </a:p>
        </p:txBody>
      </p:sp>
      <p:sp>
        <p:nvSpPr>
          <p:cNvPr id="10" name="Code frontend/src/pages/play.tsx"/>
          <p:cNvSpPr txBox="1"/>
          <p:nvPr/>
        </p:nvSpPr>
        <p:spPr>
          <a:xfrm>
            <a:off x="685800" y="3703320"/>
            <a:ext cx="5760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previewMoves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turnChoice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cardMoves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onPawnClick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turnChoice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handlePawnClick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DestinationMarkers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turnChoice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TEAM_COLORS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mySeat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turnChoice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handleDestinationClick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canPickCard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isMyTurn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!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turnChoice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isSplitInProgress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onCardClick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turnChoice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handleCardClick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"finished"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winner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(</a:t>
            </a:r>
            <a:endParaRPr lang="en-US" sz="950" dirty="0"/>
          </a:p>
        </p:txBody>
      </p:sp>
      <p:sp>
        <p:nvSpPr>
          <p:cNvPr id="11" name="Pawn"/>
          <p:cNvSpPr/>
          <p:nvPr/>
        </p:nvSpPr>
        <p:spPr>
          <a:xfrm>
            <a:off x="8805672" y="4142232"/>
            <a:ext cx="585216" cy="5852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05672" y="4142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S0</a:t>
            </a:r>
            <a:endParaRPr lang="en-US" sz="1400" dirty="0"/>
          </a:p>
        </p:txBody>
      </p:sp>
      <p:sp>
        <p:nvSpPr>
          <p:cNvPr id="13" name="Pawn"/>
          <p:cNvSpPr/>
          <p:nvPr/>
        </p:nvSpPr>
        <p:spPr>
          <a:xfrm>
            <a:off x="7571232" y="2907792"/>
            <a:ext cx="585216" cy="5852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23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S1</a:t>
            </a:r>
            <a:endParaRPr lang="en-US" sz="1400" dirty="0"/>
          </a:p>
        </p:txBody>
      </p:sp>
      <p:sp>
        <p:nvSpPr>
          <p:cNvPr id="15" name="Pawn"/>
          <p:cNvSpPr/>
          <p:nvPr/>
        </p:nvSpPr>
        <p:spPr>
          <a:xfrm>
            <a:off x="8805672" y="1673352"/>
            <a:ext cx="585216" cy="5852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05672" y="1673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S2</a:t>
            </a:r>
            <a:endParaRPr lang="en-US" sz="1400" dirty="0"/>
          </a:p>
        </p:txBody>
      </p:sp>
      <p:sp>
        <p:nvSpPr>
          <p:cNvPr id="17" name="Pawn"/>
          <p:cNvSpPr/>
          <p:nvPr/>
        </p:nvSpPr>
        <p:spPr>
          <a:xfrm>
            <a:off x="10040112" y="2907792"/>
            <a:ext cx="585216" cy="5852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4011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66760" y="2468880"/>
            <a:ext cx="1463040" cy="1463040"/>
          </a:xfrm>
          <a:prstGeom prst="ellipse">
            <a:avLst/>
          </a:prstGeom>
          <a:solidFill>
            <a:schemeClr val="bg2"/>
          </a:solidFill>
          <a:ln w="12700">
            <a:solidFill>
              <a:srgbClr val="C9C0A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7A"/>
                </a:solidFill>
              </a:rPr>
              <a:t>moi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B7A"/>
                </a:solidFill>
              </a:rPr>
              <a:t>en bas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8006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Le serveur reste en coordonnées absolues ; le front tourne le plateau de quarts de tour.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Les pions sont animés avec motion (event = qui a bougé, qui a été capturé).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 aperçu de trajet s'affiche au survol des pions jouables.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Style : Tailwind 4 + shadcn/ui, piloté par des tokens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44168"/>
            <a:ext cx="5084064" cy="329184"/>
          </a:xfrm>
          <a:prstGeom prst="rect">
            <a:avLst/>
          </a:prstGeom>
          <a:solidFill>
            <a:srgbClr val="21252B"/>
          </a:solidFill>
          <a:ln w="12700">
            <a:solidFill>
              <a:srgbClr val="212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44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7D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frontend/src/styles/globals.css</a:t>
            </a:r>
            <a:endParaRPr lang="en-US" sz="1050" dirty="0"/>
          </a:p>
        </p:txBody>
      </p:sp>
      <p:sp>
        <p:nvSpPr>
          <p:cNvPr id="6" name="Code frontend/src/styles/globals.css"/>
          <p:cNvSpPr txBox="1"/>
          <p:nvPr/>
        </p:nvSpPr>
        <p:spPr>
          <a:xfrm>
            <a:off x="685800" y="173736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'tailwindcss'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"tw-animate-css"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"shadcn/tailwind.css"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#E5DECF;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foreground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#25313E;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#407FC1;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foreground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#91B8E2;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Joueurs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plateau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ordre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haut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droite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gauche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*/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#C0563E;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#C98A2E;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#5F7F4A;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F84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#7B5C8F;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16636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E5DECF"/>
          </a:solidFill>
          <a:ln w="12700">
            <a:solidFill>
              <a:srgbClr val="C9C0A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760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background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47088" y="516636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25313E"/>
          </a:solidFill>
          <a:ln w="12700">
            <a:solidFill>
              <a:srgbClr val="C9C0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47088" y="5760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foreground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45536" y="516636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407FC1"/>
          </a:solidFill>
          <a:ln w="12700">
            <a:solidFill>
              <a:srgbClr val="C9C0A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5536" y="5760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primary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3984" y="516636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91B8E2"/>
          </a:solidFill>
          <a:ln w="12700">
            <a:solidFill>
              <a:srgbClr val="C9C0A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5760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A"/>
                </a:solidFill>
              </a:rPr>
              <a:t>secondary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3258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réutilisables</a:t>
            </a:r>
            <a:endParaRPr lang="en-US" sz="1800" dirty="0"/>
          </a:p>
        </p:txBody>
      </p:sp>
      <p:sp>
        <p:nvSpPr>
          <p:cNvPr id="16" name="Box Button"/>
          <p:cNvSpPr/>
          <p:nvPr/>
        </p:nvSpPr>
        <p:spPr>
          <a:xfrm>
            <a:off x="6035040" y="1874520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874520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200" dirty="0"/>
          </a:p>
        </p:txBody>
      </p:sp>
      <p:sp>
        <p:nvSpPr>
          <p:cNvPr id="18" name="Box Card"/>
          <p:cNvSpPr/>
          <p:nvPr/>
        </p:nvSpPr>
        <p:spPr>
          <a:xfrm>
            <a:off x="7452360" y="1874520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874520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1200" dirty="0"/>
          </a:p>
        </p:txBody>
      </p:sp>
      <p:sp>
        <p:nvSpPr>
          <p:cNvPr id="20" name="Box Field"/>
          <p:cNvSpPr/>
          <p:nvPr/>
        </p:nvSpPr>
        <p:spPr>
          <a:xfrm>
            <a:off x="8869680" y="1874520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0" y="1874520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1200" dirty="0"/>
          </a:p>
        </p:txBody>
      </p:sp>
      <p:sp>
        <p:nvSpPr>
          <p:cNvPr id="22" name="Box Input"/>
          <p:cNvSpPr/>
          <p:nvPr/>
        </p:nvSpPr>
        <p:spPr>
          <a:xfrm>
            <a:off x="10287000" y="1874520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87000" y="1874520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00" dirty="0"/>
          </a:p>
        </p:txBody>
      </p:sp>
      <p:sp>
        <p:nvSpPr>
          <p:cNvPr id="24" name="Box Label"/>
          <p:cNvSpPr/>
          <p:nvPr/>
        </p:nvSpPr>
        <p:spPr>
          <a:xfrm>
            <a:off x="6035040" y="2441448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200" dirty="0"/>
          </a:p>
        </p:txBody>
      </p:sp>
      <p:sp>
        <p:nvSpPr>
          <p:cNvPr id="26" name="Box Avatar"/>
          <p:cNvSpPr/>
          <p:nvPr/>
        </p:nvSpPr>
        <p:spPr>
          <a:xfrm>
            <a:off x="7452360" y="2441448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</a:t>
            </a:r>
            <a:endParaRPr lang="en-US" sz="1200" dirty="0"/>
          </a:p>
        </p:txBody>
      </p:sp>
      <p:sp>
        <p:nvSpPr>
          <p:cNvPr id="28" name="Box Breadcrumb"/>
          <p:cNvSpPr/>
          <p:nvPr/>
        </p:nvSpPr>
        <p:spPr>
          <a:xfrm>
            <a:off x="8869680" y="2441448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69680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Breadcrumb</a:t>
            </a:r>
            <a:endParaRPr lang="en-US" sz="1200" dirty="0"/>
          </a:p>
        </p:txBody>
      </p:sp>
      <p:sp>
        <p:nvSpPr>
          <p:cNvPr id="30" name="Box Separator"/>
          <p:cNvSpPr/>
          <p:nvPr/>
        </p:nvSpPr>
        <p:spPr>
          <a:xfrm>
            <a:off x="10287000" y="2441448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87000" y="2441448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32" name="Box PageLayout"/>
          <p:cNvSpPr/>
          <p:nvPr/>
        </p:nvSpPr>
        <p:spPr>
          <a:xfrm>
            <a:off x="6035040" y="3008376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0" y="3008376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PageLayout</a:t>
            </a:r>
            <a:endParaRPr lang="en-US" sz="1200" dirty="0"/>
          </a:p>
        </p:txBody>
      </p:sp>
      <p:sp>
        <p:nvSpPr>
          <p:cNvPr id="34" name="Box Header"/>
          <p:cNvSpPr/>
          <p:nvPr/>
        </p:nvSpPr>
        <p:spPr>
          <a:xfrm>
            <a:off x="7452360" y="3008376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3008376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00" dirty="0"/>
          </a:p>
        </p:txBody>
      </p:sp>
      <p:sp>
        <p:nvSpPr>
          <p:cNvPr id="36" name="Box Footer"/>
          <p:cNvSpPr/>
          <p:nvPr/>
        </p:nvSpPr>
        <p:spPr>
          <a:xfrm>
            <a:off x="8869680" y="3008376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9680" y="3008376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00" dirty="0"/>
          </a:p>
        </p:txBody>
      </p:sp>
      <p:sp>
        <p:nvSpPr>
          <p:cNvPr id="38" name="Box Title"/>
          <p:cNvSpPr/>
          <p:nvPr/>
        </p:nvSpPr>
        <p:spPr>
          <a:xfrm>
            <a:off x="10287000" y="3008376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87000" y="3008376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</p:txBody>
      </p:sp>
      <p:sp>
        <p:nvSpPr>
          <p:cNvPr id="40" name="Box WornFrame"/>
          <p:cNvSpPr/>
          <p:nvPr/>
        </p:nvSpPr>
        <p:spPr>
          <a:xfrm>
            <a:off x="6035040" y="3575304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0" y="3575304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WornFrame</a:t>
            </a:r>
            <a:endParaRPr lang="en-US" sz="1200" dirty="0"/>
          </a:p>
        </p:txBody>
      </p:sp>
      <p:sp>
        <p:nvSpPr>
          <p:cNvPr id="42" name="Box SeatBadge"/>
          <p:cNvSpPr/>
          <p:nvPr/>
        </p:nvSpPr>
        <p:spPr>
          <a:xfrm>
            <a:off x="7452360" y="3575304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52360" y="3575304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SeatBadge</a:t>
            </a:r>
            <a:endParaRPr lang="en-US" sz="1200" dirty="0"/>
          </a:p>
        </p:txBody>
      </p:sp>
      <p:sp>
        <p:nvSpPr>
          <p:cNvPr id="44" name="Box CardRule"/>
          <p:cNvSpPr/>
          <p:nvPr/>
        </p:nvSpPr>
        <p:spPr>
          <a:xfrm>
            <a:off x="8869680" y="3575304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69680" y="3575304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CardRule</a:t>
            </a:r>
            <a:endParaRPr lang="en-US" sz="1200" dirty="0"/>
          </a:p>
        </p:txBody>
      </p:sp>
      <p:sp>
        <p:nvSpPr>
          <p:cNvPr id="46" name="Box TiltCard"/>
          <p:cNvSpPr/>
          <p:nvPr/>
        </p:nvSpPr>
        <p:spPr>
          <a:xfrm>
            <a:off x="10287000" y="3575304"/>
            <a:ext cx="1298448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287000" y="3575304"/>
            <a:ext cx="129844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TiltCard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035040" y="420624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Bleu 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shadcn/ui (components/ui)   </a:t>
            </a:r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Ocre 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composants maison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035040" y="4709160"/>
            <a:ext cx="5623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Deux polices (Fraunces pour les titres, Public Sans pour le texte), exposées en variables CSS.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Couleurs d'équipe en tokens --team-0..3, partagées par le plateau et le lobby.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wn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Grille &amp; modules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377440" y="352044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Où en est le projet face au sujet et à la feuille de correction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Partie obligatoire : état actuel du dépôt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43000"/>
                <a:gridCol w="68580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Exigence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État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Preuve / commentaire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Frontend + backend + BDD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Next.js, NestJS, PostgreSQL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Déploiement en une commande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docker compose up --build, healthcheck postgres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HTTPS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À revoir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nginx TLS sur 8443, mais 3001 et 3002 sont publiés en clair dans le compose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Privacy Policy / Terms of Service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/privacy et /terms, liens dans le footer, contenu réel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Framework CSS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Tailwind 4 + shadcn/ui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.env ignoré + .env.example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Manquant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.env racine commité, pas de .gitignore racine, pas de .env.example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Schéma BDD et relations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5 modèles Prisma, migrations versionnées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Mots de passe hachés et salés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bcrypt, genSalt(10)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Validation front ET back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À revoir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OK pour profil, amis, mot de passe ; register et login non validés côté back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Multi-utilisateurs simultanés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rooms socket.io, verrou « Not your turn », transaction sérialisable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README complet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Manquant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manquent : rôles, organisation, modules + points, contributions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Commits de tous les membres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OK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plusieurs auteurs (voir slide Git)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Modules : 13 points solides pour 14 requis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502920"/>
                <a:gridCol w="86868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Pts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État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Ce qui le prouve dans le code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Framework front + back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Next.js + NestJS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WebSockets temps réel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commit → broadcast, rooms, reconnexion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ORM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Minor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Prisma 7 + migrations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Jeu web complet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Tock : règles, victoire, parties live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Joueurs distants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sync, délai de grâce, IA remplaçante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Multijoueur (3+)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 sièges synchronisés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Gestion utilisateurs standard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Solide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profil, avatar + défaut, amis en ligne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Adversaire IA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3"/>
                          </a:solidFill>
                        </a:rPr>
                        <a:t>Risqué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IA aléatoire : pas « challenging »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Design system maison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Minor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3"/>
                          </a:solidFill>
                        </a:rPr>
                        <a:t>Risqué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à documenter : palette, typo, icônes, 10+ comp.</a:t>
                      </a:r>
                      <a:endParaRPr lang="en-US" sz="125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778240" y="12801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778240" y="2148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A"/>
                </a:solidFill>
              </a:rPr>
              <a:t>points solides aujourd'hui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743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A"/>
                </a:solidFill>
              </a:rPr>
              <a:t>points requis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42062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5074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7A"/>
                </a:solidFill>
              </a:rPr>
              <a:t>si l'IA et le design system passent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6B7A"/>
                </a:solidFill>
              </a:rPr>
              <a:t>Un module non fonctionnel vaut 0 : viser plus que 14.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À corriger avant la soutenance</a:t>
            </a:r>
            <a:endParaRPr lang="en-US" sz="3000" dirty="0"/>
          </a:p>
        </p:txBody>
      </p:sp>
      <p:sp>
        <p:nvSpPr>
          <p:cNvPr id="3" name="Card Conflit Git : à committer"/>
          <p:cNvSpPr/>
          <p:nvPr/>
        </p:nvSpPr>
        <p:spPr>
          <a:xfrm>
            <a:off x="548640" y="132588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wn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 Git : à committer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Le conflit de game.service.ts est résolu en local (mode rapide retiré, IA à 1-3 s), mais le commit actuel contient encore les marqueurs : committer la correction.</a:t>
            </a:r>
            <a:endParaRPr lang="en-US" sz="1350" dirty="0"/>
          </a:p>
        </p:txBody>
      </p:sp>
      <p:sp>
        <p:nvSpPr>
          <p:cNvPr id="8" name="Card .env dans le dépôt"/>
          <p:cNvSpPr/>
          <p:nvPr/>
        </p:nvSpPr>
        <p:spPr>
          <a:xfrm>
            <a:off x="6172200" y="132588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wn"/>
          <p:cNvSpPr/>
          <p:nvPr/>
        </p:nvSpPr>
        <p:spPr>
          <a:xfrm>
            <a:off x="6400800" y="15727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0876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dans le dépôt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Échec immédiat selon la grille. Ajouter un .gitignore racine, un .env.example, retirer .env du suivi et changer les mots de passe.</a:t>
            </a:r>
            <a:endParaRPr lang="en-US" sz="1350" dirty="0"/>
          </a:p>
        </p:txBody>
      </p:sp>
      <p:sp>
        <p:nvSpPr>
          <p:cNvPr id="13" name="Card Register sans validation back"/>
          <p:cNvSpPr/>
          <p:nvPr/>
        </p:nvSpPr>
        <p:spPr>
          <a:xfrm>
            <a:off x="548640" y="297180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wn"/>
          <p:cNvSpPr/>
          <p:nvPr/>
        </p:nvSpPr>
        <p:spPr>
          <a:xfrm>
            <a:off x="777240" y="32186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5468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sans validation back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4904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Le body entier est étalé dans prisma.user.create (...data) : un client peut envoyer isAdmin, qui vaut true par défaut.</a:t>
            </a:r>
            <a:endParaRPr lang="en-US" sz="1350" dirty="0"/>
          </a:p>
        </p:txBody>
      </p:sp>
      <p:sp>
        <p:nvSpPr>
          <p:cNvPr id="18" name="Card Ports publiés en clair"/>
          <p:cNvSpPr/>
          <p:nvPr/>
        </p:nvSpPr>
        <p:spPr>
          <a:xfrm>
            <a:off x="6172200" y="297180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wn"/>
          <p:cNvSpPr/>
          <p:nvPr/>
        </p:nvSpPr>
        <p:spPr>
          <a:xfrm>
            <a:off x="6400800" y="32186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15468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publiés en clair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4904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3001 et 3002 sont exposés : tout doit passer par nginx en HTTPS.</a:t>
            </a:r>
            <a:endParaRPr lang="en-US" sz="1350" dirty="0"/>
          </a:p>
        </p:txBody>
      </p:sp>
      <p:sp>
        <p:nvSpPr>
          <p:cNvPr id="23" name="Card Fichiers parasites"/>
          <p:cNvSpPr/>
          <p:nvPr/>
        </p:nvSpPr>
        <p:spPr>
          <a:xfrm>
            <a:off x="548640" y="461772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wn"/>
          <p:cNvSpPr/>
          <p:nvPr/>
        </p:nvSpPr>
        <p:spPr>
          <a:xfrm>
            <a:off x="777240" y="48646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80060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Fichiers parasites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949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.next/, frontend/frontend/.next, backend/cookies.txt, backend/POST, *.png~ sont commités.</a:t>
            </a:r>
            <a:endParaRPr lang="en-US" sz="1350" dirty="0"/>
          </a:p>
        </p:txBody>
      </p:sp>
      <p:sp>
        <p:nvSpPr>
          <p:cNvPr id="28" name="Card README"/>
          <p:cNvSpPr/>
          <p:nvPr/>
        </p:nvSpPr>
        <p:spPr>
          <a:xfrm>
            <a:off x="6172200" y="461772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awn"/>
          <p:cNvSpPr/>
          <p:nvPr/>
        </p:nvSpPr>
        <p:spPr>
          <a:xfrm>
            <a:off x="6400800" y="486460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480060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3949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Ajouter rôles (PO, PM, Tech Lead), organisation, modules + calcul des points, contributions. La section « reste à faire » est périmée.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Git : la contribution doit être visible pour chacun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406640" y="1463040"/>
            <a:ext cx="4251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* Jules Azéma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regroupe 3 identités (jazema, julesazema, Jules Azéma) : unifier avec un .mailmap.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Préparer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pour chaque membre : son rôle, une feature qu'il a codée, et un fichier à montrer.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Messages de commit 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certains sont flous (« clean », « comment », « front changesx ») ; la grille demande des messages clairs.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Le commit du bot Copilot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doit pouvoir être expliqué.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Questions probables du correcteur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wn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Comment les mots de passe sont-ils stockés 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bcrypt avec un sel aléatoire par mot de passe ; le sel est dans le hash.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wn"/>
          <p:cNvSpPr/>
          <p:nvPr/>
        </p:nvSpPr>
        <p:spPr>
          <a:xfrm>
            <a:off x="6355080" y="152704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4630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Pourquoi des cookies et pas localStorage 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8424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httpOnly : un script injecté ne peut pas lire le token.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wn"/>
          <p:cNvSpPr/>
          <p:nvPr/>
        </p:nvSpPr>
        <p:spPr>
          <a:xfrm>
            <a:off x="731520" y="317296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089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Comment empêchez-vous la triche 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 serveur valide chaque action (isLegal) et cache les mains adverses (viewFor).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wn"/>
          <p:cNvSpPr/>
          <p:nvPr/>
        </p:nvSpPr>
        <p:spPr>
          <a:xfrm>
            <a:off x="6355080" y="317296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1089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Deux actions en même temps 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63016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Node traite un message à la fois ; le contrôle « Not your turn » refuse l'autre.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wn"/>
          <p:cNvSpPr/>
          <p:nvPr/>
        </p:nvSpPr>
        <p:spPr>
          <a:xfrm>
            <a:off x="731520" y="48188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754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 joueur ferme l'onglet 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27608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Délai de grâce, puis l'IA joue pour lui ; à son retour, sync lui rend la main.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72200" y="461772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awn"/>
          <p:cNvSpPr/>
          <p:nvPr/>
        </p:nvSpPr>
        <p:spPr>
          <a:xfrm>
            <a:off x="6355080" y="481888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47548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Pourquoi l'état en mémoire ?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27608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Rapide et simple. Prix à payer : un redémarrage du backend perd les parties.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À retenir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Le serveur décide, le moteur est pur, le front affiche ce qu'il reçoit.</a:t>
            </a:r>
            <a:endParaRPr lang="en-US" sz="2200" dirty="0"/>
          </a:p>
        </p:txBody>
      </p:sp>
      <p:sp>
        <p:nvSpPr>
          <p:cNvPr id="4" name="Pawn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Pawn"/>
          <p:cNvSpPr/>
          <p:nvPr/>
        </p:nvSpPr>
        <p:spPr>
          <a:xfrm>
            <a:off x="1417320" y="1325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awn"/>
          <p:cNvSpPr/>
          <p:nvPr/>
        </p:nvSpPr>
        <p:spPr>
          <a:xfrm>
            <a:off x="2103120" y="13258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awn"/>
          <p:cNvSpPr/>
          <p:nvPr/>
        </p:nvSpPr>
        <p:spPr>
          <a:xfrm>
            <a:off x="2788920" y="13258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4"/>
                </a:solidFill>
              </a:rPr>
              <a:t>Avant la soutenance : committer la résolution du conflit, sortir .env du dépôt, compléter le README.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ck">
  <a:themeElements>
    <a:clrScheme name="Tock">
      <a:dk1>
        <a:srgbClr val="25313E"/>
      </a:dk1>
      <a:lt1>
        <a:srgbClr val="FFFFFF"/>
      </a:lt1>
      <a:dk2>
        <a:srgbClr val="1B2430"/>
      </a:dk2>
      <a:lt2>
        <a:srgbClr val="F4F0E6"/>
      </a:lt2>
      <a:accent1>
        <a:srgbClr val="407FC1"/>
      </a:accent1>
      <a:accent2>
        <a:srgbClr val="C0563E"/>
      </a:accent2>
      <a:accent3>
        <a:srgbClr val="C98A2E"/>
      </a:accent3>
      <a:accent4>
        <a:srgbClr val="5F7F4A"/>
      </a:accent4>
      <a:accent5>
        <a:srgbClr val="7B5C8F"/>
      </a:accent5>
      <a:accent6>
        <a:srgbClr val="639EDE"/>
      </a:accent6>
      <a:hlink>
        <a:srgbClr val="407FC1"/>
      </a:hlink>
      <a:folHlink>
        <a:srgbClr val="7B5C8F"/>
      </a:folHlink>
    </a:clrScheme>
    <a:fontScheme name="To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Transcendence — Tock en ligne</dc:title>
  <dc:subject>PptxGenJS Presentation</dc:subject>
  <dc:creator>Équipe Transcendence</dc:creator>
  <cp:lastModifiedBy>Équipe Transcendence</cp:lastModifiedBy>
  <cp:revision>1</cp:revision>
  <dcterms:created xsi:type="dcterms:W3CDTF">2026-10-05T14:19:02Z</dcterms:created>
  <dcterms:modified xsi:type="dcterms:W3CDTF">2026-10-05T14:19:02Z</dcterms:modified>
</cp:coreProperties>
</file>